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MIB Cars Analysis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Commercial prioritization and forecasting from sales opportunity data</a:t>
            </a:r>
            <a:br/>
            <a:br/>
            <a:r>
              <a:rPr/>
              <a:t>Strategic Analysis Group</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Executive Summary</a:t>
            </a:r>
          </a:p>
        </p:txBody>
      </p:sp>
      <p:sp>
        <p:nvSpPr>
          <p:cNvPr id="3" name="Content Placeholder 2"/>
          <p:cNvSpPr>
            <a:spLocks noGrp="1"/>
          </p:cNvSpPr>
          <p:nvPr>
            <p:ph idx="1"/>
          </p:nvPr>
        </p:nvSpPr>
        <p:spPr/>
        <p:txBody>
          <a:bodyPr/>
          <a:lstStyle/>
          <a:p>
            <a:pPr lvl="0"/>
            <a:r>
              <a:rPr/>
              <a:t>The current sales process for auto parts opportunities shows both opportunities in structural inefficiencies and also data quality issues (e.g., data input issues, lack of prioritization, inaccurate forecasting), which are driving suboptimal sales force performance.</a:t>
            </a:r>
          </a:p>
          <a:p>
            <a:pPr lvl="0"/>
            <a:r>
              <a:rPr/>
              <a:t>For dealing with the structural inefficiencies, we propose a classification model to predict win/loss and support opportunity prioritization, and a regression model to estimate deal size for a priori sizing and forecasting.</a:t>
            </a:r>
          </a:p>
          <a:p>
            <a:pPr lvl="0"/>
            <a:r>
              <a:rPr/>
              <a:t>The classification model performs well (AUROC 0.88), enabling effective prioritization, while the regression model is not reliable at the deal level (MAE ~$74K; R² 0.13) but is still accurate enough for aggregate forecasting and directional planning.</a:t>
            </a:r>
          </a:p>
          <a:p>
            <a:pPr lvl="0"/>
            <a:r>
              <a:rPr/>
              <a:t>We recommend piloting the classification model first, while using the regression model as a complementary tool for portfolio-level planning.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Agenda</a:t>
            </a:r>
          </a:p>
        </p:txBody>
      </p:sp>
      <p:sp>
        <p:nvSpPr>
          <p:cNvPr id="3" name="Content Placeholder 2"/>
          <p:cNvSpPr>
            <a:spLocks noGrp="1"/>
          </p:cNvSpPr>
          <p:nvPr>
            <p:ph idx="1"/>
          </p:nvPr>
        </p:nvSpPr>
        <p:spPr/>
        <p:txBody>
          <a:bodyPr/>
          <a:lstStyle/>
          <a:p>
            <a:pPr lvl="0" indent="-342900" marL="342900">
              <a:buAutoNum type="arabicPeriod"/>
            </a:pPr>
            <a:r>
              <a:rPr/>
              <a:t>Business framing and process assumptions</a:t>
            </a:r>
          </a:p>
          <a:p>
            <a:pPr lvl="0" indent="-342900" marL="342900">
              <a:buAutoNum type="arabicPeriod"/>
            </a:pPr>
            <a:r>
              <a:rPr/>
              <a:t>Dataset and target overview</a:t>
            </a:r>
          </a:p>
          <a:p>
            <a:pPr lvl="0" indent="-342900" marL="342900">
              <a:buAutoNum type="arabicPeriod"/>
            </a:pPr>
            <a:r>
              <a:rPr/>
              <a:t>EDA findings that matter for prioritization and forecasting</a:t>
            </a:r>
          </a:p>
          <a:p>
            <a:pPr lvl="0" indent="-342900" marL="342900">
              <a:buAutoNum type="arabicPeriod"/>
            </a:pPr>
            <a:r>
              <a:rPr/>
              <a:t>Modelling approach and model outputs</a:t>
            </a:r>
          </a:p>
          <a:p>
            <a:pPr lvl="0" indent="-342900" marL="342900">
              <a:buAutoNum type="arabicPeriod"/>
            </a:pPr>
            <a:r>
              <a:rPr/>
              <a:t>Application simulations</a:t>
            </a:r>
          </a:p>
          <a:p>
            <a:pPr lvl="0" indent="-342900" marL="342900">
              <a:buAutoNum type="arabicPeriod"/>
            </a:pPr>
            <a:r>
              <a:rPr/>
              <a:t>Conclusions and 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Business framing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sales process is non-linear, and the data captures its current state</a:t>
            </a:r>
          </a:p>
        </p:txBody>
      </p:sp>
      <p:sp>
        <p:nvSpPr>
          <p:cNvPr id="3" name="Content Placeholder 2"/>
          <p:cNvSpPr>
            <a:spLocks noGrp="1"/>
          </p:cNvSpPr>
          <p:nvPr>
            <p:ph idx="1" sz="half"/>
          </p:nvPr>
        </p:nvSpPr>
        <p:spPr/>
        <p:txBody>
          <a:bodyPr/>
          <a:lstStyle/>
          <a:p>
            <a:pPr lvl="0"/>
            <a:r>
              <a:rPr/>
              <a:t>The sales process tracks auto-parts opportunities across both new leads and existing customers.</a:t>
            </a:r>
          </a:p>
          <a:p>
            <a:pPr lvl="0"/>
            <a:r>
              <a:rPr/>
              <a:t>Opportunities transition between the stages Identified / Qualifying, Qualified / Validating, and Validated / Gaining Agreement.</a:t>
            </a:r>
          </a:p>
          <a:p>
            <a:pPr lvl="1"/>
            <a:r>
              <a:rPr/>
              <a:t>Opportunities can move between stages in either direction, and they can also stall within a stage for extended periods.</a:t>
            </a:r>
          </a:p>
          <a:p>
            <a:pPr lvl="1"/>
            <a:r>
              <a:rPr/>
              <a:t>Each opportunity ultimately resolves as either a win or a loss.</a:t>
            </a:r>
          </a:p>
          <a:p>
            <a:pPr lvl="1"/>
            <a:r>
              <a:rPr/>
              <a:t>Sales teams maintain an estimated deal value, which is updated as the opportunity progresses.</a:t>
            </a:r>
          </a:p>
        </p:txBody>
      </p:sp>
      <p:pic>
        <p:nvPicPr>
          <p:cNvPr descr="assets/process.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Most value sits in a small share of opportunities making prioritization an important growth lever</a:t>
            </a:r>
          </a:p>
        </p:txBody>
      </p:sp>
      <p:pic>
        <p:nvPicPr>
          <p:cNvPr descr="assets/eda_amount_win_rate.png" id="0" name="Picture 1"/>
          <p:cNvPicPr>
            <a:picLocks noGrp="1" noChangeAspect="1"/>
          </p:cNvPicPr>
          <p:nvPr/>
        </p:nvPicPr>
        <p:blipFill>
          <a:blip r:embed="rId2"/>
          <a:stretch>
            <a:fillRect/>
          </a:stretch>
        </p:blipFill>
        <p:spPr bwMode="auto">
          <a:xfrm>
            <a:off x="457200" y="1765300"/>
            <a:ext cx="4038600" cy="2247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pipeline is high-volume but low-yield: only 22.7% of opportunities convert, meaning most effort is currently misallocated.</a:t>
            </a:r>
          </a:p>
          <a:p>
            <a:pPr lvl="0"/>
            <a:r>
              <a:rPr/>
              <a:t>Value is highly concentrated: the majority of opportunities are low-amount, but win rates increase materially with deal size, signaling where commercial focus should shift.</a:t>
            </a:r>
          </a:p>
          <a:p>
            <a:pPr lvl="0"/>
            <a:r>
              <a:rPr/>
              <a:t>This creates a clear opportunity: → Move from volume-driven selling to value-driven prioritization, combining win propensity + deal size.</a:t>
            </a:r>
          </a:p>
          <a:p>
            <a:pPr lvl="0"/>
            <a:r>
              <a:rPr/>
              <a:t>The implication is direct: → Not all opportunities should be pursued equally — targeting the right deals can lift conversion and revenue without increasing pipeline size.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Therefore, we propose two modelling use cases: prioritization and forecasting, plus additional data-driven commercial opportunities.</a:t>
            </a:r>
          </a:p>
        </p:txBody>
      </p:sp>
      <p:sp>
        <p:nvSpPr>
          <p:cNvPr id="3" name="Content Placeholder 2"/>
          <p:cNvSpPr>
            <a:spLocks noGrp="1"/>
          </p:cNvSpPr>
          <p:nvPr>
            <p:ph idx="1" sz="half"/>
          </p:nvPr>
        </p:nvSpPr>
        <p:spPr/>
        <p:txBody>
          <a:bodyPr/>
          <a:lstStyle/>
          <a:p>
            <a:pPr lvl="0" indent="0" marL="0">
              <a:spcBef>
                <a:spcPts val="3000"/>
              </a:spcBef>
              <a:buNone/>
            </a:pPr>
            <a:r>
              <a:rPr b="1"/>
              <a:t>Selected for this project</a:t>
            </a:r>
          </a:p>
          <a:p>
            <a:pPr lvl="0"/>
            <a:r>
              <a:rPr b="1"/>
              <a:t>Process prioritization</a:t>
            </a:r>
            <a:r>
              <a:rPr/>
              <a:t>: rank opportunities by win propensity and support decisions on where sales effort should focus first.</a:t>
            </a:r>
          </a:p>
          <a:p>
            <a:pPr lvl="0"/>
            <a:r>
              <a:rPr b="1"/>
              <a:t>Opportunity sizing &amp; forecasting</a:t>
            </a:r>
            <a:r>
              <a:rPr/>
              <a:t>: estimate deal value and aggregate expected sales for planning, prioritization, and budget visibility.</a:t>
            </a:r>
          </a:p>
        </p:txBody>
      </p:sp>
      <p:sp>
        <p:nvSpPr>
          <p:cNvPr id="4" name="Content Placeholder 3"/>
          <p:cNvSpPr>
            <a:spLocks noGrp="1"/>
          </p:cNvSpPr>
          <p:nvPr>
            <p:ph idx="2" sz="half"/>
          </p:nvPr>
        </p:nvSpPr>
        <p:spPr/>
        <p:txBody>
          <a:bodyPr/>
          <a:lstStyle/>
          <a:p>
            <a:pPr lvl="0" indent="0" marL="0">
              <a:spcBef>
                <a:spcPts val="3000"/>
              </a:spcBef>
              <a:buNone/>
            </a:pPr>
            <a:r>
              <a:rPr b="1"/>
              <a:t>Additional opportunities identified in the data</a:t>
            </a:r>
          </a:p>
          <a:p>
            <a:pPr lvl="0"/>
            <a:r>
              <a:rPr b="1"/>
              <a:t>Channel optimization</a:t>
            </a:r>
            <a:r>
              <a:rPr/>
              <a:t>: test what-if scenarios around route-to-market and engagement model choices.</a:t>
            </a:r>
          </a:p>
          <a:p>
            <a:pPr lvl="0"/>
            <a:r>
              <a:rPr b="1"/>
              <a:t>Secondary market segmentation</a:t>
            </a:r>
            <a:r>
              <a:rPr/>
              <a:t>: create actionable commercial segments from predicted value and conversion potential.</a:t>
            </a:r>
          </a:p>
          <a:p>
            <a:pPr lvl="0"/>
            <a:r>
              <a:rPr b="1"/>
              <a:t>Early warning systems</a:t>
            </a:r>
            <a:r>
              <a:rPr/>
              <a:t>: flag opportunities that are likely to deteriorate or stall.</a:t>
            </a:r>
          </a:p>
          <a:p>
            <a:pPr lvl="0"/>
            <a:r>
              <a:rPr b="1"/>
              <a:t>Budget allocation</a:t>
            </a:r>
            <a:r>
              <a:rPr/>
              <a:t>: guide sales effort and product-focus decisions across segments, regions, and product 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Exploratory data analysis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dataset was analyzed and prepared with the two use cases in mind, which shaped the EDA focus and modelling choices</a:t>
            </a:r>
          </a:p>
        </p:txBody>
      </p:sp>
      <p:sp>
        <p:nvSpPr>
          <p:cNvPr id="3" name="Content Placeholder 2"/>
          <p:cNvSpPr>
            <a:spLocks noGrp="1"/>
          </p:cNvSpPr>
          <p:nvPr>
            <p:ph idx="1" sz="half"/>
          </p:nvPr>
        </p:nvSpPr>
        <p:spPr/>
        <p:txBody>
          <a:bodyPr/>
          <a:lstStyle/>
          <a:p>
            <a:pPr lvl="0"/>
            <a:r>
              <a:rPr b="1"/>
              <a:t>Scale</a:t>
            </a:r>
            <a:r>
              <a:rPr/>
              <a:t>: 78,025 sales opportunities and </a:t>
            </a:r>
            <a:r>
              <a:rPr b="1"/>
              <a:t>19 variables</a:t>
            </a:r>
            <a:r>
              <a:rPr/>
              <a:t>.</a:t>
            </a:r>
          </a:p>
          <a:p>
            <a:pPr lvl="0"/>
            <a:r>
              <a:rPr/>
              <a:t>Validation checks flagged duplicates and process-consistency issues before modelling. Key preparation findings:</a:t>
            </a:r>
          </a:p>
          <a:p>
            <a:pPr lvl="1"/>
            <a:r>
              <a:rPr b="1"/>
              <a:t>196 duplicated opportunity IDs</a:t>
            </a:r>
            <a:r>
              <a:rPr/>
              <a:t> (removed)</a:t>
            </a:r>
          </a:p>
          <a:p>
            <a:pPr lvl="1"/>
            <a:r>
              <a:rPr b="1"/>
              <a:t>2047 zero amount opportunities</a:t>
            </a:r>
            <a:r>
              <a:rPr/>
              <a:t> (removed)</a:t>
            </a:r>
          </a:p>
          <a:p>
            <a:pPr lvl="1"/>
            <a:r>
              <a:rPr b="1"/>
              <a:t>12,921 rows</a:t>
            </a:r>
            <a:r>
              <a:rPr/>
              <a:t> where stage ratios do not sum closely to 1 (kept)</a:t>
            </a:r>
          </a:p>
          <a:p>
            <a:pPr lvl="1"/>
            <a:r>
              <a:rPr/>
              <a:t>And other problems such as apparent data input issues, missing values, and outliers that were handled with specific transformations rather than row removal.</a:t>
            </a:r>
          </a:p>
          <a:p>
            <a:pPr lvl="0"/>
            <a:r>
              <a:rPr/>
              <a:t>For the modelling experiments shown here, the sample used </a:t>
            </a:r>
            <a:r>
              <a:rPr b="1"/>
              <a:t>75,819 eligible rows</a:t>
            </a:r>
            <a:r>
              <a:rPr/>
              <a:t> out of </a:t>
            </a:r>
            <a:r>
              <a:rPr b="1"/>
              <a:t>78,025 total rows</a:t>
            </a:r>
            <a:r>
              <a:rPr/>
              <a:t> with valid targets.</a:t>
            </a:r>
          </a:p>
        </p:txBody>
      </p:sp>
      <p:pic>
        <p:nvPicPr>
          <p:cNvPr descr="assets/number_of_problems.png" id="0" name="Picture 1"/>
          <p:cNvPicPr>
            <a:picLocks noGrp="1" noChangeAspect="1"/>
          </p:cNvPicPr>
          <p:nvPr/>
        </p:nvPicPr>
        <p:blipFill>
          <a:blip r:embed="rId2"/>
          <a:stretch>
            <a:fillRect/>
          </a:stretch>
        </p:blipFill>
        <p:spPr bwMode="auto">
          <a:xfrm>
            <a:off x="4648200" y="1498600"/>
            <a:ext cx="4038600" cy="2273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Problems identified in the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 any business operations, we recommend segmenting clients by client size</a:t>
            </a:r>
          </a:p>
        </p:txBody>
      </p:sp>
      <p:pic>
        <p:nvPicPr>
          <p:cNvPr descr="assets/eda_client_segmentation.png" id="0" name="Picture 1"/>
          <p:cNvPicPr>
            <a:picLocks noGrp="1" noChangeAspect="1"/>
          </p:cNvPicPr>
          <p:nvPr/>
        </p:nvPicPr>
        <p:blipFill>
          <a:blip r:embed="rId2"/>
          <a:stretch>
            <a:fillRect/>
          </a:stretch>
        </p:blipFill>
        <p:spPr bwMode="auto">
          <a:xfrm>
            <a:off x="457200" y="1892300"/>
            <a:ext cx="4038600" cy="1993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portfolio is heavily concentrated in </a:t>
            </a:r>
            <a:r>
              <a:rPr b="1"/>
              <a:t>100K or less</a:t>
            </a:r>
            <a:r>
              <a:rPr/>
              <a:t> clients, so this segment should drive base operating playbooks and coverage models.</a:t>
            </a:r>
          </a:p>
          <a:p>
            <a:pPr lvl="0"/>
            <a:r>
              <a:rPr/>
              <a:t>Conversion is relatively similar across most size bands, which means client size is more useful for </a:t>
            </a:r>
            <a:r>
              <a:rPr b="1"/>
              <a:t>commercial treatment and value management</a:t>
            </a:r>
            <a:r>
              <a:rPr/>
              <a:t> than for win-rate targeting alone.</a:t>
            </a:r>
          </a:p>
          <a:p>
            <a:pPr lvl="0"/>
            <a:r>
              <a:rPr/>
              <a:t>Larger accounts still matter because deal economics improve materially with size, so client-size segmentation should inform account prioritization, service model, and sales effort allocation.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also recommend starting with a simple marketing funnel segmentation</a:t>
            </a:r>
          </a:p>
        </p:txBody>
      </p:sp>
      <p:sp>
        <p:nvSpPr>
          <p:cNvPr id="3" name="Content Placeholder 2"/>
          <p:cNvSpPr>
            <a:spLocks noGrp="1"/>
          </p:cNvSpPr>
          <p:nvPr>
            <p:ph idx="1" sz="half"/>
          </p:nvPr>
        </p:nvSpPr>
        <p:spPr/>
        <p:txBody>
          <a:bodyPr/>
          <a:lstStyle/>
          <a:p>
            <a:pPr lvl="0"/>
            <a:r>
              <a:rPr b="1"/>
              <a:t>(Re)Acquisition</a:t>
            </a:r>
            <a:r>
              <a:rPr/>
              <a:t> / no business in the past two years: 69,208 opportunities with a </a:t>
            </a:r>
            <a:r>
              <a:rPr b="1"/>
              <a:t>17.3%</a:t>
            </a:r>
            <a:r>
              <a:rPr/>
              <a:t> observed win rate.</a:t>
            </a:r>
          </a:p>
          <a:p>
            <a:pPr lvl="0"/>
            <a:r>
              <a:rPr b="1"/>
              <a:t>Engagement / upselling</a:t>
            </a:r>
            <a:r>
              <a:rPr/>
              <a:t>: 8,817 opportunities with a </a:t>
            </a:r>
            <a:r>
              <a:rPr b="1"/>
              <a:t>63.9%</a:t>
            </a:r>
            <a:r>
              <a:rPr/>
              <a:t> observed win rate.</a:t>
            </a:r>
          </a:p>
          <a:p>
            <a:pPr lvl="0"/>
            <a:r>
              <a:rPr/>
              <a:t>This is a practical first-layer funnel split for go-to-market operations because it separates low-history acquisition work from higher-propensity expansion opportunities.</a:t>
            </a:r>
          </a:p>
        </p:txBody>
      </p:sp>
      <p:pic>
        <p:nvPicPr>
          <p:cNvPr descr="assets/eda_two_phase_funnel.png" id="0" name="Picture 1"/>
          <p:cNvPicPr>
            <a:picLocks noGrp="1" noChangeAspect="1"/>
          </p:cNvPicPr>
          <p:nvPr/>
        </p:nvPicPr>
        <p:blipFill>
          <a:blip r:embed="rId2"/>
          <a:stretch>
            <a:fillRect/>
          </a:stretch>
        </p:blipFill>
        <p:spPr bwMode="auto">
          <a:xfrm>
            <a:off x="4648200" y="1638300"/>
            <a:ext cx="4038600" cy="2501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ran an automated IV analysis and found that process-time variables carry most of the predictive signal</a:t>
            </a:r>
          </a:p>
        </p:txBody>
      </p:sp>
      <p:pic>
        <p:nvPicPr>
          <p:cNvPr descr="assets/eda_iv_ranking.png" id="0" name="Picture 1"/>
          <p:cNvPicPr>
            <a:picLocks noGrp="1" noChangeAspect="1"/>
          </p:cNvPicPr>
          <p:nvPr/>
        </p:nvPicPr>
        <p:blipFill>
          <a:blip r:embed="rId2"/>
          <a:stretch>
            <a:fillRect/>
          </a:stretch>
        </p:blipFill>
        <p:spPr bwMode="auto">
          <a:xfrm>
            <a:off x="457200" y="1892300"/>
            <a:ext cx="4038600" cy="1981200"/>
          </a:xfrm>
          <a:prstGeom prst="rect">
            <a:avLst/>
          </a:prstGeom>
          <a:noFill/>
          <a:ln w="9525">
            <a:noFill/>
            <a:headEnd/>
            <a:tailEnd/>
          </a:ln>
        </p:spPr>
      </p:pic>
      <p:pic>
        <p:nvPicPr>
          <p:cNvPr descr="assets/eda_other_vars.png" id="0" name="Picture 1"/>
          <p:cNvPicPr>
            <a:picLocks noGrp="1" noChangeAspect="1"/>
          </p:cNvPicPr>
          <p:nvPr/>
        </p:nvPicPr>
        <p:blipFill>
          <a:blip r:embed="rId3"/>
          <a:stretch>
            <a:fillRect/>
          </a:stretch>
        </p:blipFill>
        <p:spPr bwMode="auto">
          <a:xfrm>
            <a:off x="4648200" y="2146300"/>
            <a:ext cx="4038600" cy="1485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strongest IV signals for win/loss come from </a:t>
            </a:r>
            <a:r>
              <a:rPr b="1"/>
              <a:t>Total Days Identified Through Qualified</a:t>
            </a:r>
            <a:r>
              <a:rPr/>
              <a:t>, </a:t>
            </a:r>
            <a:r>
              <a:rPr b="1"/>
              <a:t>Elapsed Days In Sales Stage</a:t>
            </a:r>
            <a:r>
              <a:rPr/>
              <a:t>, and the stage-ratio variables.</a:t>
            </a:r>
          </a:p>
          <a:p>
            <a:pPr lvl="0"/>
            <a:r>
              <a:rPr/>
              <a:t>Both time-to-close and amount distributions are skewed, so the analysis should avoid over-interpreting averages without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Modelling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 both classification and regression, we used a </a:t>
            </a:r>
            <a:r>
              <a:rPr b="1"/>
              <a:t>dynamic snapshot</a:t>
            </a:r>
            <a:r>
              <a:rPr/>
              <a:t> of the opportunity data, which captures the current state of the sales process and customer context</a:t>
            </a:r>
          </a:p>
        </p:txBody>
      </p:sp>
      <p:sp>
        <p:nvSpPr>
          <p:cNvPr id="3" name="Content Placeholder 2"/>
          <p:cNvSpPr>
            <a:spLocks noGrp="1"/>
          </p:cNvSpPr>
          <p:nvPr>
            <p:ph idx="1" sz="half"/>
          </p:nvPr>
        </p:nvSpPr>
        <p:spPr/>
        <p:txBody>
          <a:bodyPr/>
          <a:lstStyle/>
          <a:p>
            <a:pPr lvl="0"/>
            <a:r>
              <a:rPr b="1"/>
              <a:t>Train / test split</a:t>
            </a:r>
            <a:r>
              <a:rPr/>
              <a:t>: </a:t>
            </a:r>
            <a:r>
              <a:rPr b="1"/>
              <a:t>70% / 30%</a:t>
            </a:r>
          </a:p>
          <a:p>
            <a:pPr lvl="1"/>
            <a:r>
              <a:rPr/>
              <a:t>Train: </a:t>
            </a:r>
            <a:r>
              <a:rPr b="1"/>
              <a:t>53,073</a:t>
            </a:r>
            <a:r>
              <a:rPr/>
              <a:t> rows</a:t>
            </a:r>
          </a:p>
          <a:p>
            <a:pPr lvl="1"/>
            <a:r>
              <a:rPr/>
              <a:t>Test: </a:t>
            </a:r>
            <a:r>
              <a:rPr b="1"/>
              <a:t>22,746</a:t>
            </a:r>
            <a:r>
              <a:rPr/>
              <a:t> rows</a:t>
            </a:r>
          </a:p>
          <a:p>
            <a:pPr lvl="0"/>
            <a:r>
              <a:rPr/>
              <a:t>The split was </a:t>
            </a:r>
            <a:r>
              <a:rPr b="1"/>
              <a:t>stratified jointly</a:t>
            </a:r>
            <a:r>
              <a:rPr/>
              <a:t> on:</a:t>
            </a:r>
          </a:p>
          <a:p>
            <a:pPr lvl="1"/>
            <a:r>
              <a:rPr/>
              <a:t>win/loss target</a:t>
            </a:r>
          </a:p>
          <a:p>
            <a:pPr lvl="1"/>
            <a:r>
              <a:rPr/>
              <a:t>amount buckets</a:t>
            </a:r>
          </a:p>
          <a:p>
            <a:pPr lvl="0"/>
            <a:r>
              <a:rPr/>
              <a:t>This keeps both outcome balance and deal-size mix stable across train and test.</a:t>
            </a:r>
          </a:p>
          <a:p>
            <a:pPr lvl="0"/>
            <a:r>
              <a:rPr/>
              <a:t>In the final models, regression uses standardized numeric inputs, while the selected logistic classifier uses supervised binning plus one-hot encoding.</a:t>
            </a:r>
          </a:p>
        </p:txBody>
      </p:sp>
      <p:sp>
        <p:nvSpPr>
          <p:cNvPr id="4" name="Content Placeholder 3"/>
          <p:cNvSpPr>
            <a:spLocks noGrp="1"/>
          </p:cNvSpPr>
          <p:nvPr>
            <p:ph idx="2" sz="half"/>
          </p:nvPr>
        </p:nvSpPr>
        <p:spPr/>
        <p:txBody>
          <a:bodyPr/>
          <a:lstStyle/>
          <a:p>
            <a:pPr lvl="0" indent="0" marL="0">
              <a:buNone/>
            </a:pPr>
            <a:r>
              <a:rPr/>
              <a:t>SOME KIND OF DIAGRAM.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Win/loss classification is the stronger operational model</a:t>
            </a:r>
          </a:p>
        </p:txBody>
      </p:sp>
      <p:sp>
        <p:nvSpPr>
          <p:cNvPr id="3" name="Text Placeholder 2"/>
          <p:cNvSpPr>
            <a:spLocks noGrp="1"/>
          </p:cNvSpPr>
          <p:nvPr>
            <p:ph idx="1" type="body"/>
          </p:nvPr>
        </p:nvSpPr>
        <p:spPr/>
        <p:txBody>
          <a:bodyPr/>
          <a:lstStyle/>
          <a:p>
            <a:pPr lvl="0"/>
            <a:r>
              <a:rPr/>
              <a:t>Target: </a:t>
            </a:r>
            <a:r>
              <a:rPr b="1"/>
              <a:t>Opportunity Result</a:t>
            </a:r>
            <a:r>
              <a:rPr/>
              <a:t>.</a:t>
            </a:r>
          </a:p>
          <a:p>
            <a:pPr lvl="0"/>
            <a:r>
              <a:rPr/>
              <a:t>Business use: </a:t>
            </a:r>
            <a:r>
              <a:rPr b="1"/>
              <a:t>process prioritization</a:t>
            </a:r>
            <a:r>
              <a:rPr/>
              <a:t> and ranking the pipeline by win propensity.</a:t>
            </a:r>
          </a:p>
          <a:p>
            <a:pPr lvl="0"/>
            <a:r>
              <a:rPr/>
              <a:t>Specific transformations tested: log-transforming amount variables and supervised binning.</a:t>
            </a:r>
          </a:p>
          <a:p>
            <a:pPr lvl="0"/>
            <a:r>
              <a:rPr/>
              <a:t>Selected final logistic model: </a:t>
            </a:r>
            <a:r>
              <a:rPr b="1"/>
              <a:t>Logistic Regression over supervisedly binned and one-hot encoded features</a:t>
            </a:r>
            <a:r>
              <a:rPr/>
              <a:t> (</a:t>
            </a:r>
            <a:r>
              <a:rPr>
                <a:latin typeface="Courier"/>
              </a:rPr>
              <a:t>logit_binned_ohe</a:t>
            </a:r>
            <a:r>
              <a:rPr/>
              <a:t>).</a:t>
            </a:r>
          </a:p>
        </p:txBody>
      </p:sp>
      <p:graphicFrame>
        <p:nvGraphicFramePr>
          <p:cNvPr id="6" name="Content Placeholder 5"/>
          <p:cNvGraphicFramePr>
            <a:graphicFrameLocks noGrp="1"/>
          </p:cNvGraphicFramePr>
          <p:nvPr>
            <p:ph idx="1"/>
          </p:nvPr>
        </p:nvGraphicFramePr>
        <p:xfrm>
          <a:off x="457200" y="1625600"/>
          <a:ext cx="4038600" cy="29591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Split</a:t>
                      </a:r>
                    </a:p>
                  </a:txBody>
                  <a:tcPr/>
                </a:tc>
                <a:tc>
                  <a:txBody>
                    <a:bodyPr/>
                    <a:lstStyle/>
                    <a:p>
                      <a:pPr lvl="0" indent="0" marL="0" algn="r">
                        <a:buNone/>
                      </a:pPr>
                      <a:r>
                        <a:rPr/>
                        <a:t>ROC AUC</a:t>
                      </a:r>
                    </a:p>
                  </a:txBody>
                  <a:tcPr/>
                </a:tc>
                <a:tc>
                  <a:txBody>
                    <a:bodyPr/>
                    <a:lstStyle/>
                    <a:p>
                      <a:pPr lvl="0" indent="0" marL="0" algn="r">
                        <a:buNone/>
                      </a:pPr>
                      <a:r>
                        <a:rPr/>
                        <a:t>PR AUC</a:t>
                      </a:r>
                    </a:p>
                  </a:txBody>
                  <a:tcPr/>
                </a:tc>
              </a:tr>
              <a:tr h="0">
                <a:tc>
                  <a:txBody>
                    <a:bodyPr/>
                    <a:lstStyle/>
                    <a:p>
                      <a:pPr lvl="0" indent="0" marL="0">
                        <a:buNone/>
                      </a:pPr>
                      <a:r>
                        <a:rPr/>
                        <a:t>CV</a:t>
                      </a:r>
                    </a:p>
                  </a:txBody>
                </a:tc>
                <a:tc>
                  <a:txBody>
                    <a:bodyPr/>
                    <a:lstStyle/>
                    <a:p>
                      <a:pPr lvl="0" indent="0" marL="0" algn="r">
                        <a:buNone/>
                      </a:pPr>
                      <a:r>
                        <a:rPr/>
                        <a:t>0.881</a:t>
                      </a:r>
                    </a:p>
                  </a:txBody>
                </a:tc>
                <a:tc>
                  <a:txBody>
                    <a:bodyPr/>
                    <a:lstStyle/>
                    <a:p>
                      <a:pPr lvl="0" indent="0" marL="0" algn="r">
                        <a:buNone/>
                      </a:pPr>
                      <a:r>
                        <a:rPr/>
                        <a:t>0.700</a:t>
                      </a:r>
                    </a:p>
                  </a:txBody>
                </a:tc>
              </a:tr>
              <a:tr h="0">
                <a:tc>
                  <a:txBody>
                    <a:bodyPr/>
                    <a:lstStyle/>
                    <a:p>
                      <a:pPr lvl="0" indent="0" marL="0">
                        <a:buNone/>
                      </a:pPr>
                      <a:r>
                        <a:rPr/>
                        <a:t>Held-out test</a:t>
                      </a:r>
                    </a:p>
                  </a:txBody>
                </a:tc>
                <a:tc>
                  <a:txBody>
                    <a:bodyPr/>
                    <a:lstStyle/>
                    <a:p>
                      <a:pPr lvl="0" indent="0" marL="0" algn="r">
                        <a:buNone/>
                      </a:pPr>
                      <a:r>
                        <a:rPr/>
                        <a:t>0.877</a:t>
                      </a:r>
                    </a:p>
                  </a:txBody>
                </a:tc>
                <a:tc>
                  <a:txBody>
                    <a:bodyPr/>
                    <a:lstStyle/>
                    <a:p>
                      <a:pPr lvl="0" indent="0" marL="0" algn="r">
                        <a:buNone/>
                      </a:pPr>
                      <a:r>
                        <a:rPr/>
                        <a:t>0.695</a:t>
                      </a:r>
                    </a:p>
                  </a:txBody>
                </a:tc>
              </a:tr>
            </a:tbl>
          </a:graphicData>
        </a:graphic>
      </p:graphicFrame>
      <p:pic>
        <p:nvPicPr>
          <p:cNvPr descr="assets/classification_importance.png" id="0" name="Picture 1"/>
          <p:cNvPicPr>
            <a:picLocks noGrp="1" noChangeAspect="1"/>
          </p:cNvPicPr>
          <p:nvPr/>
        </p:nvPicPr>
        <p:blipFill>
          <a:blip r:embed="rId2"/>
          <a:stretch>
            <a:fillRect/>
          </a:stretch>
        </p:blipFill>
        <p:spPr bwMode="auto">
          <a:xfrm>
            <a:off x="4635500" y="1778000"/>
            <a:ext cx="4038600" cy="26670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Amount regression is not reliable at deal level, but highly accurate at portfolio level for planning</a:t>
            </a:r>
          </a:p>
        </p:txBody>
      </p:sp>
      <p:sp>
        <p:nvSpPr>
          <p:cNvPr id="3" name="Text Placeholder 2"/>
          <p:cNvSpPr>
            <a:spLocks noGrp="1"/>
          </p:cNvSpPr>
          <p:nvPr>
            <p:ph idx="1" type="body"/>
          </p:nvPr>
        </p:nvSpPr>
        <p:spPr/>
        <p:txBody>
          <a:bodyPr/>
          <a:lstStyle/>
          <a:p>
            <a:pPr lvl="0"/>
            <a:r>
              <a:rPr/>
              <a:t>Target: </a:t>
            </a:r>
            <a:r>
              <a:rPr b="1"/>
              <a:t>Opportunity Amount USD</a:t>
            </a:r>
            <a:r>
              <a:rPr/>
              <a:t>.</a:t>
            </a:r>
          </a:p>
          <a:p>
            <a:pPr lvl="0"/>
            <a:r>
              <a:rPr/>
              <a:t>Business use: </a:t>
            </a:r>
            <a:r>
              <a:rPr b="1"/>
              <a:t>sizing and aggregate forecasting</a:t>
            </a:r>
            <a:r>
              <a:rPr/>
              <a:t>.</a:t>
            </a:r>
          </a:p>
          <a:p>
            <a:pPr lvl="0"/>
            <a:r>
              <a:rPr/>
              <a:t>Also uses the full dynamic snapshot, so amount estimates reflect both customer context and current process state.</a:t>
            </a:r>
          </a:p>
          <a:p>
            <a:pPr lvl="0"/>
            <a:r>
              <a:rPr/>
              <a:t>Specific transformations tested: log-transforming amount variables and supervised binning.</a:t>
            </a:r>
          </a:p>
          <a:p>
            <a:pPr lvl="0"/>
            <a:r>
              <a:rPr/>
              <a:t>Selected final regression model: </a:t>
            </a:r>
            <a:r>
              <a:rPr b="1"/>
              <a:t>Classic linear regression with standard scaled input</a:t>
            </a:r>
            <a:r>
              <a:rPr/>
              <a:t> (</a:t>
            </a:r>
            <a:r>
              <a:rPr>
                <a:latin typeface="Courier"/>
              </a:rPr>
              <a:t>classic_linear_standard_scaler</a:t>
            </a:r>
            <a:r>
              <a:rPr/>
              <a:t>).</a:t>
            </a:r>
          </a:p>
        </p:txBody>
      </p:sp>
      <p:graphicFrame>
        <p:nvGraphicFramePr>
          <p:cNvPr id="6" name="Content Placeholder 5"/>
          <p:cNvGraphicFramePr>
            <a:graphicFrameLocks noGrp="1"/>
          </p:cNvGraphicFramePr>
          <p:nvPr>
            <p:ph idx="1"/>
          </p:nvPr>
        </p:nvGraphicFramePr>
        <p:xfrm>
          <a:off x="457200" y="1625600"/>
          <a:ext cx="4038600" cy="29591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buNone/>
                      </a:pPr>
                      <a:r>
                        <a:rPr/>
                        <a:t>Split</a:t>
                      </a:r>
                    </a:p>
                  </a:txBody>
                  <a:tcPr/>
                </a:tc>
                <a:tc>
                  <a:txBody>
                    <a:bodyPr/>
                    <a:lstStyle/>
                    <a:p>
                      <a:pPr lvl="0" indent="0" marL="0" algn="r">
                        <a:buNone/>
                      </a:pPr>
                      <a:r>
                        <a:rPr/>
                        <a:t>R²</a:t>
                      </a:r>
                    </a:p>
                  </a:txBody>
                  <a:tcPr/>
                </a:tc>
                <a:tc>
                  <a:txBody>
                    <a:bodyPr/>
                    <a:lstStyle/>
                    <a:p>
                      <a:pPr lvl="0" indent="0" marL="0" algn="r">
                        <a:buNone/>
                      </a:pPr>
                      <a:r>
                        <a:rPr/>
                        <a:t>MAE</a:t>
                      </a:r>
                    </a:p>
                  </a:txBody>
                  <a:tcPr/>
                </a:tc>
                <a:tc>
                  <a:txBody>
                    <a:bodyPr/>
                    <a:lstStyle/>
                    <a:p>
                      <a:pPr lvl="0" indent="0" marL="0" algn="r">
                        <a:buNone/>
                      </a:pPr>
                      <a:r>
                        <a:rPr/>
                        <a:t>Median APE</a:t>
                      </a:r>
                    </a:p>
                  </a:txBody>
                  <a:tcPr/>
                </a:tc>
              </a:tr>
              <a:tr h="0">
                <a:tc>
                  <a:txBody>
                    <a:bodyPr/>
                    <a:lstStyle/>
                    <a:p>
                      <a:pPr lvl="0" indent="0" marL="0">
                        <a:buNone/>
                      </a:pPr>
                      <a:r>
                        <a:rPr/>
                        <a:t>CV</a:t>
                      </a:r>
                    </a:p>
                  </a:txBody>
                </a:tc>
                <a:tc>
                  <a:txBody>
                    <a:bodyPr/>
                    <a:lstStyle/>
                    <a:p>
                      <a:pPr lvl="0" indent="0" marL="0" algn="r">
                        <a:buNone/>
                      </a:pPr>
                      <a:r>
                        <a:rPr/>
                        <a:t>0.134</a:t>
                      </a:r>
                    </a:p>
                  </a:txBody>
                </a:tc>
                <a:tc>
                  <a:txBody>
                    <a:bodyPr/>
                    <a:lstStyle/>
                    <a:p>
                      <a:pPr lvl="0" indent="0" marL="0" algn="r">
                        <a:buNone/>
                      </a:pPr>
                      <a:r>
                        <a:rPr/>
                        <a:t>74.3k USD</a:t>
                      </a:r>
                    </a:p>
                  </a:txBody>
                </a:tc>
                <a:tc>
                  <a:txBody>
                    <a:bodyPr/>
                    <a:lstStyle/>
                    <a:p>
                      <a:pPr lvl="0" indent="0" marL="0" algn="r">
                        <a:buNone/>
                      </a:pPr>
                      <a:r>
                        <a:rPr/>
                        <a:t>78.9%</a:t>
                      </a:r>
                    </a:p>
                  </a:txBody>
                </a:tc>
              </a:tr>
              <a:tr h="0">
                <a:tc>
                  <a:txBody>
                    <a:bodyPr/>
                    <a:lstStyle/>
                    <a:p>
                      <a:pPr lvl="0" indent="0" marL="0">
                        <a:buNone/>
                      </a:pPr>
                      <a:r>
                        <a:rPr/>
                        <a:t>Held-out test</a:t>
                      </a:r>
                    </a:p>
                  </a:txBody>
                </a:tc>
                <a:tc>
                  <a:txBody>
                    <a:bodyPr/>
                    <a:lstStyle/>
                    <a:p>
                      <a:pPr lvl="0" indent="0" marL="0" algn="r">
                        <a:buNone/>
                      </a:pPr>
                      <a:r>
                        <a:rPr/>
                        <a:t>0.135</a:t>
                      </a:r>
                    </a:p>
                  </a:txBody>
                </a:tc>
                <a:tc>
                  <a:txBody>
                    <a:bodyPr/>
                    <a:lstStyle/>
                    <a:p>
                      <a:pPr lvl="0" indent="0" marL="0" algn="r">
                        <a:buNone/>
                      </a:pPr>
                      <a:r>
                        <a:rPr/>
                        <a:t>74.0k USD</a:t>
                      </a:r>
                    </a:p>
                  </a:txBody>
                </a:tc>
                <a:tc>
                  <a:txBody>
                    <a:bodyPr/>
                    <a:lstStyle/>
                    <a:p>
                      <a:pPr lvl="0" indent="0" marL="0" algn="r">
                        <a:buNone/>
                      </a:pPr>
                      <a:r>
                        <a:rPr/>
                        <a:t>78.5%</a:t>
                      </a:r>
                    </a:p>
                  </a:txBody>
                </a:tc>
              </a:tr>
            </a:tbl>
          </a:graphicData>
        </a:graphic>
      </p:graphicFrame>
      <p:pic>
        <p:nvPicPr>
          <p:cNvPr descr="assets/regression_importance.png" id="0" name="Picture 1"/>
          <p:cNvPicPr>
            <a:picLocks noGrp="1" noChangeAspect="1"/>
          </p:cNvPicPr>
          <p:nvPr/>
        </p:nvPicPr>
        <p:blipFill>
          <a:blip r:embed="rId2"/>
          <a:stretch>
            <a:fillRect/>
          </a:stretch>
        </p:blipFill>
        <p:spPr bwMode="auto">
          <a:xfrm>
            <a:off x="4635500" y="1765300"/>
            <a:ext cx="4038600" cy="2692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Application simulation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Prioritization simulation: the top propensity decile delivers 3.5× lift versus the average held-out win rate</a:t>
            </a:r>
          </a:p>
        </p:txBody>
      </p:sp>
      <p:sp>
        <p:nvSpPr>
          <p:cNvPr id="3" name="Content Placeholder 2"/>
          <p:cNvSpPr>
            <a:spLocks noGrp="1"/>
          </p:cNvSpPr>
          <p:nvPr>
            <p:ph idx="1" sz="half"/>
          </p:nvPr>
        </p:nvSpPr>
        <p:spPr/>
        <p:txBody>
          <a:bodyPr/>
          <a:lstStyle/>
          <a:p>
            <a:pPr lvl="0"/>
            <a:r>
              <a:rPr/>
              <a:t>Sales effort is currently spread across low-probability deals → the model shows that concentrating on the top deciles can triple efficiency.</a:t>
            </a:r>
          </a:p>
          <a:p>
            <a:pPr lvl="0"/>
            <a:r>
              <a:rPr/>
              <a:t>We propose to automatically embed this in the CRM at opportunity creation to prioritize high-propensity deals (e.g. top 1-2 deciles) and set clear thresholds for pipeline reviews and resource allocation.</a:t>
            </a:r>
          </a:p>
          <a:p>
            <a:pPr lvl="0" indent="0" marL="0">
              <a:buNone/>
            </a:pPr>
            <a:r>
              <a:rPr/>
              <a:t>This simulation is based on held-out test-set predictions.</a:t>
            </a:r>
          </a:p>
        </p:txBody>
      </p:sp>
      <p:pic>
        <p:nvPicPr>
          <p:cNvPr descr="assets/sim_prioritization.png" id="0" name="Picture 1"/>
          <p:cNvPicPr>
            <a:picLocks noGrp="1" noChangeAspect="1"/>
          </p:cNvPicPr>
          <p:nvPr/>
        </p:nvPicPr>
        <p:blipFill>
          <a:blip r:embed="rId2"/>
          <a:stretch>
            <a:fillRect/>
          </a:stretch>
        </p:blipFill>
        <p:spPr bwMode="auto">
          <a:xfrm>
            <a:off x="4648200" y="1638300"/>
            <a:ext cx="4038600" cy="2501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Forecast simulation: predicted total sales closely matches the observed aggregate total</a:t>
            </a:r>
          </a:p>
        </p:txBody>
      </p:sp>
      <p:pic>
        <p:nvPicPr>
          <p:cNvPr descr="assets/sim_forecasting.png" id="0" name="Picture 1"/>
          <p:cNvPicPr>
            <a:picLocks noGrp="1" noChangeAspect="1"/>
          </p:cNvPicPr>
          <p:nvPr/>
        </p:nvPicPr>
        <p:blipFill>
          <a:blip r:embed="rId2"/>
          <a:stretch>
            <a:fillRect/>
          </a:stretch>
        </p:blipFill>
        <p:spPr bwMode="auto">
          <a:xfrm>
            <a:off x="457200" y="1638300"/>
            <a:ext cx="4038600" cy="2489200"/>
          </a:xfrm>
          <a:prstGeom prst="rect">
            <a:avLst/>
          </a:prstGeom>
          <a:noFill/>
          <a:ln w="9525">
            <a:noFill/>
            <a:headEnd/>
            <a:tailEnd/>
          </a:ln>
        </p:spPr>
      </p:pic>
      <p:sp>
        <p:nvSpPr>
          <p:cNvPr id="4" name="Content Placeholder 3"/>
          <p:cNvSpPr>
            <a:spLocks noGrp="1"/>
          </p:cNvSpPr>
          <p:nvPr>
            <p:ph idx="2" sz="half"/>
          </p:nvPr>
        </p:nvSpPr>
        <p:spPr/>
        <p:txBody>
          <a:bodyPr/>
          <a:lstStyle/>
          <a:p>
            <a:pPr lvl="0"/>
            <a:r>
              <a:rPr/>
              <a:t>Model is better at forecasting aggregate sales than individual-opportunity amounts, which is common in this type of data.</a:t>
            </a:r>
          </a:p>
          <a:p>
            <a:pPr lvl="1"/>
            <a:r>
              <a:rPr/>
              <a:t>Aggregate actual amount: </a:t>
            </a:r>
            <a:r>
              <a:rPr b="1"/>
              <a:t>2.138B USD</a:t>
            </a:r>
            <a:r>
              <a:rPr/>
              <a:t> on the held-out test set.</a:t>
            </a:r>
          </a:p>
          <a:p>
            <a:pPr lvl="1"/>
            <a:r>
              <a:rPr/>
              <a:t>Aggregate predicted amount: </a:t>
            </a:r>
            <a:r>
              <a:rPr b="1"/>
              <a:t>2.139B USD</a:t>
            </a:r>
            <a:r>
              <a:rPr/>
              <a:t> on the held-out test set.</a:t>
            </a:r>
          </a:p>
          <a:p>
            <a:pPr lvl="1"/>
            <a:r>
              <a:rPr/>
              <a:t>Mean absolute error per opportunity: </a:t>
            </a:r>
            <a:r>
              <a:rPr b="1"/>
              <a:t>74.0k USD</a:t>
            </a:r>
            <a:r>
              <a:rPr/>
              <a:t>.</a:t>
            </a:r>
          </a:p>
          <a:p>
            <a:pPr lvl="0"/>
            <a:r>
              <a:rPr/>
              <a:t>We propose automatically calculating and adding this to the CRM at opportunity creation for aggregate planning and scenario analysis, but not for precise opportunity-level decisions because its value is strongest at the portfolio level.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simulation is based on held-out test-set predictions.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Expected-value thresholding captures realized value much faster than a broad-pipeline approach</a:t>
            </a:r>
          </a:p>
        </p:txBody>
      </p:sp>
      <p:pic>
        <p:nvPicPr>
          <p:cNvPr descr="assets/sim_expected_value_threshold.png" id="0" name="Picture 1"/>
          <p:cNvPicPr>
            <a:picLocks noGrp="1" noChangeAspect="1"/>
          </p:cNvPicPr>
          <p:nvPr/>
        </p:nvPicPr>
        <p:blipFill>
          <a:blip r:embed="rId2"/>
          <a:stretch>
            <a:fillRect/>
          </a:stretch>
        </p:blipFill>
        <p:spPr bwMode="auto">
          <a:xfrm>
            <a:off x="457200" y="1663700"/>
            <a:ext cx="4038600" cy="2451100"/>
          </a:xfrm>
          <a:prstGeom prst="rect">
            <a:avLst/>
          </a:prstGeom>
          <a:noFill/>
          <a:ln w="9525">
            <a:noFill/>
            <a:headEnd/>
            <a:tailEnd/>
          </a:ln>
        </p:spPr>
      </p:pic>
      <p:sp>
        <p:nvSpPr>
          <p:cNvPr id="4" name="Content Placeholder 3"/>
          <p:cNvSpPr>
            <a:spLocks noGrp="1"/>
          </p:cNvSpPr>
          <p:nvPr>
            <p:ph idx="2" sz="half"/>
          </p:nvPr>
        </p:nvSpPr>
        <p:spPr/>
        <p:txBody>
          <a:bodyPr/>
          <a:lstStyle/>
          <a:p>
            <a:pPr lvl="0"/>
            <a:r>
              <a:rPr/>
              <a:t>Rank and filter pipeline by expected value to concentrate effort where it matters most.</a:t>
            </a:r>
          </a:p>
          <a:p>
            <a:pPr lvl="0"/>
            <a:r>
              <a:rPr/>
              <a:t>~44% of value captured in top 10% of opportunities, ~68% in top 25%.</a:t>
            </a:r>
          </a:p>
          <a:p>
            <a:pPr lvl="0"/>
            <a:r>
              <a:rPr/>
              <a:t>Shifting from broad coverage to value-based prioritization materially accelerates revenue capture.</a:t>
            </a:r>
          </a:p>
          <a:p>
            <a:pPr lvl="0"/>
            <a:r>
              <a:rPr/>
              <a:t>Acts as a bridge between prioritization and forecasting, aligning effort with both likelihood and deal size.</a:t>
            </a:r>
          </a:p>
          <a:p>
            <a:pPr lvl="0"/>
            <a:r>
              <a:rPr/>
              <a:t>We propose embedding this in the CRM to set clear thresholds for sales focus (e.g., top 10% of opportunities by expected value = high priority), while providing a more nuanced view of opportunity value than win propensity alone.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simulation is based on held-out test-set predictions.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this integrates into sales workflow</a:t>
            </a:r>
          </a:p>
        </p:txBody>
      </p:sp>
      <p:sp>
        <p:nvSpPr>
          <p:cNvPr id="3" name="Content Placeholder 2"/>
          <p:cNvSpPr>
            <a:spLocks noGrp="1"/>
          </p:cNvSpPr>
          <p:nvPr>
            <p:ph idx="1" sz="half"/>
          </p:nvPr>
        </p:nvSpPr>
        <p:spPr/>
        <p:txBody>
          <a:bodyPr/>
          <a:lstStyle/>
          <a:p>
            <a:pPr lvl="0" indent="0" marL="0">
              <a:spcBef>
                <a:spcPts val="3000"/>
              </a:spcBef>
              <a:buNone/>
            </a:pPr>
            <a:r>
              <a:rPr b="1"/>
              <a:t>Operational flow</a:t>
            </a:r>
          </a:p>
          <a:p>
            <a:pPr lvl="0" indent="0" marL="0">
              <a:buNone/>
            </a:pPr>
            <a:r>
              <a:rPr b="1"/>
              <a:t>Opportunity created</a:t>
            </a:r>
            <a:r>
              <a:rPr/>
              <a:t> → </a:t>
            </a:r>
            <a:r>
              <a:rPr b="1"/>
              <a:t>score + expected value generated</a:t>
            </a:r>
          </a:p>
          <a:p>
            <a:pPr lvl="0"/>
            <a:r>
              <a:rPr/>
              <a:t>As soon as a new opportunity enters the CRM, the workflow generates:</a:t>
            </a:r>
          </a:p>
          <a:p>
            <a:pPr lvl="1"/>
            <a:r>
              <a:rPr b="1"/>
              <a:t>win-propensity score</a:t>
            </a:r>
          </a:p>
          <a:p>
            <a:pPr lvl="1"/>
            <a:r>
              <a:rPr b="1"/>
              <a:t>predicted amount</a:t>
            </a:r>
          </a:p>
          <a:p>
            <a:pPr lvl="1"/>
            <a:r>
              <a:rPr b="1"/>
              <a:t>expected value = E[Amount] × P(Win)</a:t>
            </a:r>
          </a:p>
          <a:p>
            <a:pPr lvl="0" indent="0" marL="0">
              <a:spcBef>
                <a:spcPts val="3000"/>
              </a:spcBef>
              <a:buNone/>
            </a:pPr>
            <a:r>
              <a:rPr b="1"/>
              <a:t>CRM displays</a:t>
            </a:r>
          </a:p>
          <a:p>
            <a:pPr lvl="0"/>
            <a:r>
              <a:rPr b="1"/>
              <a:t>Priority tier</a:t>
            </a:r>
            <a:r>
              <a:rPr/>
              <a:t>: Top 10%, Top 25%, Top 50%, etc.</a:t>
            </a:r>
          </a:p>
          <a:p>
            <a:pPr lvl="0"/>
            <a:r>
              <a:rPr b="1"/>
              <a:t>Suggested action</a:t>
            </a:r>
            <a:r>
              <a:rPr/>
              <a:t>: focus / monitor / deprioritize</a:t>
            </a:r>
          </a:p>
          <a:p>
            <a:pPr lvl="0"/>
            <a:r>
              <a:rPr/>
              <a:t>This gives frontline teams a simple operating signal without exposing model internals.</a:t>
            </a:r>
          </a:p>
        </p:txBody>
      </p:sp>
      <p:sp>
        <p:nvSpPr>
          <p:cNvPr id="4" name="Content Placeholder 3"/>
          <p:cNvSpPr>
            <a:spLocks noGrp="1"/>
          </p:cNvSpPr>
          <p:nvPr>
            <p:ph idx="2" sz="half"/>
          </p:nvPr>
        </p:nvSpPr>
        <p:spPr/>
        <p:txBody>
          <a:bodyPr/>
          <a:lstStyle/>
          <a:p>
            <a:pPr lvl="0" indent="0" marL="0">
              <a:spcBef>
                <a:spcPts val="3000"/>
              </a:spcBef>
              <a:buNone/>
            </a:pPr>
            <a:r>
              <a:rPr b="1"/>
              <a:t>Weekly pipeline reviews</a:t>
            </a:r>
          </a:p>
          <a:p>
            <a:pPr lvl="0"/>
            <a:r>
              <a:rPr/>
              <a:t>Use </a:t>
            </a:r>
            <a:r>
              <a:rPr b="1"/>
              <a:t>threshold-based filtering</a:t>
            </a:r>
            <a:r>
              <a:rPr/>
              <a:t> to narrow the active pipeline before review.</a:t>
            </a:r>
          </a:p>
          <a:p>
            <a:pPr lvl="0"/>
            <a:r>
              <a:rPr/>
              <a:t>Focus reviews on opportunities above the agreed propensity or expected-value cutoff.</a:t>
            </a:r>
          </a:p>
          <a:p>
            <a:pPr lvl="0"/>
            <a:r>
              <a:rPr/>
              <a:t>Align rep attention, manager escalation, and follow-up cadence to those thresholds.</a:t>
            </a:r>
          </a:p>
          <a:p>
            <a:pPr lvl="0" indent="0" marL="0">
              <a:spcBef>
                <a:spcPts val="3000"/>
              </a:spcBef>
              <a:buNone/>
            </a:pPr>
            <a:r>
              <a:rPr b="1"/>
              <a:t>Management view</a:t>
            </a:r>
          </a:p>
          <a:p>
            <a:pPr lvl="0"/>
            <a:r>
              <a:rPr b="1"/>
              <a:t>Forecast = sum of predicted values</a:t>
            </a:r>
            <a:r>
              <a:rPr/>
              <a:t> across the active pipeline.</a:t>
            </a:r>
          </a:p>
          <a:p>
            <a:pPr lvl="0"/>
            <a:r>
              <a:rPr/>
              <a:t>Leadership can compare forecast by region, route to market, owner, or priority tier.</a:t>
            </a:r>
          </a:p>
          <a:p>
            <a:pPr lvl="0"/>
            <a:r>
              <a:rPr/>
              <a:t>This connects daily triage decisions to portfolio-level revenue planning.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Conclusions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commercial decision-making</a:t>
            </a:r>
          </a:p>
        </p:txBody>
      </p:sp>
      <p:sp>
        <p:nvSpPr>
          <p:cNvPr id="3" name="Content Placeholder 2"/>
          <p:cNvSpPr>
            <a:spLocks noGrp="1"/>
          </p:cNvSpPr>
          <p:nvPr>
            <p:ph idx="1"/>
          </p:nvPr>
        </p:nvSpPr>
        <p:spPr/>
        <p:txBody>
          <a:bodyPr/>
          <a:lstStyle/>
          <a:p>
            <a:pPr lvl="0"/>
            <a:r>
              <a:rPr/>
              <a:t>Two clear decision levers:</a:t>
            </a:r>
          </a:p>
          <a:p>
            <a:pPr lvl="1"/>
            <a:r>
              <a:rPr b="1"/>
              <a:t>Result model</a:t>
            </a:r>
            <a:r>
              <a:rPr/>
              <a:t> → prioritization of the pipeline</a:t>
            </a:r>
          </a:p>
          <a:p>
            <a:pPr lvl="1"/>
            <a:r>
              <a:rPr b="1"/>
              <a:t>Amount model</a:t>
            </a:r>
            <a:r>
              <a:rPr/>
              <a:t> → sizing and aggregate forecasting</a:t>
            </a:r>
          </a:p>
          <a:p>
            <a:pPr lvl="0"/>
            <a:r>
              <a:rPr/>
              <a:t>Two models consistently applied:</a:t>
            </a:r>
          </a:p>
          <a:p>
            <a:pPr lvl="1"/>
            <a:r>
              <a:rPr b="1"/>
              <a:t>Win/loss classification</a:t>
            </a:r>
            <a:r>
              <a:rPr/>
              <a:t> to rank opportunities by likelihood to close</a:t>
            </a:r>
          </a:p>
          <a:p>
            <a:pPr lvl="1"/>
            <a:r>
              <a:rPr b="1"/>
              <a:t>Regression</a:t>
            </a:r>
            <a:r>
              <a:rPr/>
              <a:t> to estimate deal size based on current pipeline state</a:t>
            </a:r>
          </a:p>
          <a:p>
            <a:pPr lvl="0"/>
            <a:r>
              <a:rPr b="1"/>
              <a:t>Recommendation</a:t>
            </a:r>
            <a:r>
              <a:rPr/>
              <a:t>:</a:t>
            </a:r>
          </a:p>
          <a:p>
            <a:pPr lvl="1"/>
            <a:r>
              <a:rPr/>
              <a:t>Pilot the result model first to drive immediate commercial impact through better prioritization</a:t>
            </a:r>
          </a:p>
          <a:p>
            <a:pPr lvl="1"/>
            <a:r>
              <a:rPr/>
              <a:t>Use the amount model as a planning layer, supporting aggregate forecasts and scenario sizing</a:t>
            </a:r>
          </a:p>
          <a:p>
            <a:pPr lvl="1"/>
            <a:r>
              <a:rPr/>
              <a:t>Eventually use them together to drive expected-value prioritization, which concentrates effort on the most valuable opportunities and accelerates revenue capture.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p:nvPr>
        </p:nvSpPr>
        <p:spPr/>
        <p:txBody>
          <a:bodyPr/>
          <a:lstStyle/>
          <a:p>
            <a:pPr lvl="0"/>
            <a:r>
              <a:rPr/>
              <a:t>Pilot deployment (4–6 weeks):</a:t>
            </a:r>
          </a:p>
          <a:p>
            <a:pPr lvl="1"/>
            <a:r>
              <a:rPr/>
              <a:t>Embed prioritization scores into CRM workflows</a:t>
            </a:r>
          </a:p>
          <a:p>
            <a:pPr lvl="1"/>
            <a:r>
              <a:rPr/>
              <a:t>Run A/B test vs. current sales process and measure lift in conversion and revenue</a:t>
            </a:r>
          </a:p>
          <a:p>
            <a:pPr lvl="0"/>
            <a:r>
              <a:rPr/>
              <a:t>Define operating model:</a:t>
            </a:r>
          </a:p>
          <a:p>
            <a:pPr lvl="1"/>
            <a:r>
              <a:rPr/>
              <a:t>Set clear thresholds and actions (e.g., top deciles = sales focus)</a:t>
            </a:r>
          </a:p>
          <a:p>
            <a:pPr lvl="1"/>
            <a:r>
              <a:rPr/>
              <a:t>Align sales incentives and pipeline reviews to model outputs</a:t>
            </a:r>
          </a:p>
          <a:p>
            <a:pPr lvl="0"/>
            <a:r>
              <a:rPr/>
              <a:t>Monitor performance:</a:t>
            </a:r>
          </a:p>
          <a:p>
            <a:pPr lvl="1"/>
            <a:r>
              <a:rPr/>
              <a:t>Track conversion lift, cycle time, and revenue per opportunity</a:t>
            </a:r>
          </a:p>
          <a:p>
            <a:pPr lvl="1"/>
            <a:r>
              <a:rPr/>
              <a:t>Continuously recalibrate thresholds and retrain models</a:t>
            </a:r>
          </a:p>
          <a:p>
            <a:pPr lvl="0"/>
            <a:r>
              <a:rPr/>
              <a:t>Scale and integrate:</a:t>
            </a:r>
          </a:p>
          <a:p>
            <a:pPr lvl="1"/>
            <a:r>
              <a:rPr/>
              <a:t>Extend to full pipeline and embed in forecasting cadence</a:t>
            </a:r>
          </a:p>
          <a:p>
            <a:pPr lvl="1"/>
            <a:r>
              <a:rPr/>
              <a:t>Incorporate into commercial planning and resource allocation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 you</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Questions, comments, and feedback are welcome!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Annex</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Annex: classification CV leaderboard</a:t>
            </a:r>
          </a:p>
        </p:txBody>
      </p:sp>
      <p:sp>
        <p:nvSpPr>
          <p:cNvPr id="3" name="Content Placeholder 2"/>
          <p:cNvSpPr>
            <a:spLocks noGrp="1"/>
          </p:cNvSpPr>
          <p:nvPr>
            <p:ph idx="1"/>
          </p:nvPr>
        </p:nvSpPr>
        <p:spPr/>
        <p:txBody>
          <a:bodyPr/>
          <a:lstStyle/>
          <a:p>
            <a:pPr lvl="0" indent="0" marL="0">
              <a:buNone/>
            </a:pPr>
            <a:r>
              <a:rPr/>
              <a:t>Selected model in main deck: </a:t>
            </a:r>
            <a:r>
              <a:rPr b="1"/>
              <a:t>logit_binned_ohe</a:t>
            </a:r>
            <a: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Annex: regression CV leaderboard</a:t>
            </a:r>
          </a:p>
        </p:txBody>
      </p:sp>
      <p:sp>
        <p:nvSpPr>
          <p:cNvPr id="3" name="Content Placeholder 2"/>
          <p:cNvSpPr>
            <a:spLocks noGrp="1"/>
          </p:cNvSpPr>
          <p:nvPr>
            <p:ph idx="1"/>
          </p:nvPr>
        </p:nvSpPr>
        <p:spPr/>
        <p:txBody>
          <a:bodyPr/>
          <a:lstStyle/>
          <a:p>
            <a:pPr lvl="0" indent="0" marL="0">
              <a:buNone/>
            </a:pPr>
            <a:r>
              <a:rPr/>
              <a:t>Selected model in main deck: </a:t>
            </a:r>
            <a:r>
              <a:rPr b="1"/>
              <a:t>classic_linear_standard_scaler</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MIB Cars Analysis</dc:title>
  <dc:creator>Strategic Analysis Group</dc:creator>
  <cp:keywords/>
  <dcterms:created xsi:type="dcterms:W3CDTF">2026-04-03T11:18:47Z</dcterms:created>
  <dcterms:modified xsi:type="dcterms:W3CDTF">2026-04-03T11:18:47Z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enter">
    <vt:lpwstr>False</vt:lpwstr>
  </property>
  <property fmtid="{D5CDD505-2E9C-101B-9397-08002B2CF9AE}" pid="6" name="header-includes">
    <vt:lpwstr/>
  </property>
  <property fmtid="{D5CDD505-2E9C-101B-9397-08002B2CF9AE}" pid="7" name="height">
    <vt:lpwstr>9in</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Commercial prioritization and forecasting from sales opportunity data</vt:lpwstr>
  </property>
  <property fmtid="{D5CDD505-2E9C-101B-9397-08002B2CF9AE}" pid="12" name="toc-title">
    <vt:lpwstr>Table of contents</vt:lpwstr>
  </property>
  <property fmtid="{D5CDD505-2E9C-101B-9397-08002B2CF9AE}" pid="13" name="width">
    <vt:lpwstr>16in</vt:lpwstr>
  </property>
</Properties>
</file>