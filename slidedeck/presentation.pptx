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6.png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MIB Cars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Commercial prioritization and forecasting from sales opportunity data</a:t>
            </a:r>
            <a:br/>
            <a:br/>
            <a:r>
              <a:rPr/>
              <a:t>Strategic Analysis Group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Business framing and process assumptions</a:t>
            </a:r>
          </a:p>
          <a:p>
            <a:pPr lvl="0" indent="-342900" marL="342900">
              <a:buAutoNum type="arabicPeriod"/>
            </a:pPr>
            <a:r>
              <a:rPr/>
              <a:t>Dataset and target overview</a:t>
            </a:r>
          </a:p>
          <a:p>
            <a:pPr lvl="0" indent="-342900" marL="342900">
              <a:buAutoNum type="arabicPeriod"/>
            </a:pPr>
            <a:r>
              <a:rPr/>
              <a:t>EDA findings that matter for prioritization and forecasting</a:t>
            </a:r>
          </a:p>
          <a:p>
            <a:pPr lvl="0" indent="-342900" marL="342900">
              <a:buAutoNum type="arabicPeriod"/>
            </a:pPr>
            <a:r>
              <a:rPr/>
              <a:t>Modelling approach and model outputs</a:t>
            </a:r>
          </a:p>
          <a:p>
            <a:pPr lvl="0" indent="-342900" marL="342900">
              <a:buAutoNum type="arabicPeriod"/>
            </a:pPr>
            <a:r>
              <a:rPr/>
              <a:t>Application simulations</a:t>
            </a:r>
          </a:p>
          <a:p>
            <a:pPr lvl="0" indent="-342900" marL="342900">
              <a:buAutoNum type="arabicPeriod"/>
            </a:pPr>
            <a:r>
              <a:rPr/>
              <a:t>Conclusions and next steps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Business framing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sales process is non-linear, and the data captures its 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The sales process is about </a:t>
            </a:r>
            <a:r>
              <a:rPr b="1"/>
              <a:t>auto-parts sales opportunities</a:t>
            </a:r>
            <a:r>
              <a:rPr/>
              <a:t> with both potential leads and existing clients.</a:t>
            </a:r>
          </a:p>
          <a:p>
            <a:pPr lvl="0"/>
            <a:r>
              <a:rPr/>
              <a:t>Opportunities move back and forth across </a:t>
            </a:r>
            <a:r>
              <a:rPr b="1"/>
              <a:t>Identified / Qualifying</a:t>
            </a:r>
            <a:r>
              <a:rPr/>
              <a:t>, </a:t>
            </a:r>
            <a:r>
              <a:rPr b="1"/>
              <a:t>Qualified / Validating</a:t>
            </a:r>
            <a:r>
              <a:rPr/>
              <a:t>, and </a:t>
            </a:r>
            <a:r>
              <a:rPr b="1"/>
              <a:t>Validated / Gaining Agreement</a:t>
            </a:r>
            <a:r>
              <a:rPr/>
              <a:t>.</a:t>
            </a:r>
          </a:p>
          <a:p>
            <a:pPr lvl="0"/>
            <a:r>
              <a:rPr/>
              <a:t>Each opportunity ultimately ends in a </a:t>
            </a:r>
            <a:r>
              <a:rPr b="1"/>
              <a:t>win or a loss</a:t>
            </a:r>
            <a:r>
              <a:rPr/>
              <a:t>.</a:t>
            </a:r>
          </a:p>
          <a:p>
            <a:pPr lvl="0"/>
            <a:r>
              <a:rPr/>
              <a:t>Sales teams also assign an </a:t>
            </a:r>
            <a:r>
              <a:rPr b="1"/>
              <a:t>estimated opportunity amount</a:t>
            </a:r>
            <a:r>
              <a:rPr/>
              <a:t>, which appears to be updated as the deal evolves.</a:t>
            </a:r>
          </a:p>
          <a:p>
            <a:pPr lvl="0"/>
            <a:r>
              <a:rPr/>
              <a:t>Because the dataset mostly stores the latest record per opportunity, we can use </a:t>
            </a:r>
            <a:r>
              <a:rPr b="1"/>
              <a:t>aggregate time-in-stage variables</a:t>
            </a:r>
            <a:r>
              <a:rPr/>
              <a:t>, but not full path dynamics.</a:t>
            </a:r>
          </a:p>
          <a:p>
            <a:pPr lvl="0"/>
            <a:r>
              <a:rPr/>
              <a:t>That is why the modelling work uses </a:t>
            </a:r>
            <a:r>
              <a:rPr b="1"/>
              <a:t>all available snapshot variables</a:t>
            </a:r>
            <a:r>
              <a:rPr/>
              <a:t>, especially the process-time fields that summarize where an opportunity currently stands.</a:t>
            </a:r>
          </a:p>
        </p:txBody>
      </p:sp>
      <p:pic>
        <p:nvPicPr>
          <p:cNvPr descr="assets/proce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opportunity set is broader than the two use cases developed in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Selected for this project</a:t>
            </a:r>
          </a:p>
          <a:p>
            <a:pPr lvl="0"/>
            <a:r>
              <a:rPr b="1"/>
              <a:t>Process prioritization</a:t>
            </a:r>
            <a:r>
              <a:rPr/>
              <a:t>: rank opportunities by win propensity and support decisions on where sales effort should focus first.</a:t>
            </a:r>
          </a:p>
          <a:p>
            <a:pPr lvl="0"/>
            <a:r>
              <a:rPr b="1"/>
              <a:t>Opportunity sizing &amp; forecasting</a:t>
            </a:r>
            <a:r>
              <a:rPr/>
              <a:t>: estimate deal value and aggregate expected sales for planning, prioritization, and budget visibility.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opportunities identified in the data</a:t>
            </a:r>
          </a:p>
          <a:p>
            <a:pPr lvl="0"/>
            <a:r>
              <a:rPr b="1"/>
              <a:t>Channel optimization</a:t>
            </a:r>
            <a:r>
              <a:rPr/>
              <a:t>: test what-if scenarios around route-to-market and engagement model choices.</a:t>
            </a:r>
          </a:p>
          <a:p>
            <a:pPr lvl="0"/>
            <a:r>
              <a:rPr b="1"/>
              <a:t>Secondary market segmentation</a:t>
            </a:r>
            <a:r>
              <a:rPr/>
              <a:t>: create actionable commercial segments from predicted value and conversion potential.</a:t>
            </a:r>
          </a:p>
          <a:p>
            <a:pPr lvl="0"/>
            <a:r>
              <a:rPr b="1"/>
              <a:t>Early warning systems</a:t>
            </a:r>
            <a:r>
              <a:rPr/>
              <a:t>: flag opportunities that are likely to deteriorate or stall.</a:t>
            </a:r>
          </a:p>
          <a:p>
            <a:pPr lvl="0"/>
            <a:r>
              <a:rPr b="1"/>
              <a:t>Budget allocation</a:t>
            </a:r>
            <a:r>
              <a:rPr/>
              <a:t>: guide sales effort and product-focus decisions across segments, regions, and product lines.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Exploratory data analysis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dataset was analyzed and prepared with the two use cases in mind, which shaped the EDA focus and modelling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Scale</a:t>
            </a:r>
            <a:r>
              <a:rPr/>
              <a:t>: 78,025 sales opportunities and </a:t>
            </a:r>
            <a:r>
              <a:rPr b="1"/>
              <a:t>19 variables</a:t>
            </a:r>
            <a:r>
              <a:rPr/>
              <a:t>.</a:t>
            </a:r>
          </a:p>
          <a:p>
            <a:pPr lvl="0"/>
            <a:r>
              <a:rPr/>
              <a:t>Validation checks flagged duplicates and process-consistency issues before modelling. Key preparation findings:</a:t>
            </a:r>
          </a:p>
          <a:p>
            <a:pPr lvl="1"/>
            <a:r>
              <a:rPr b="1"/>
              <a:t>196 duplicated opportunity IDs</a:t>
            </a:r>
            <a:r>
              <a:rPr/>
              <a:t> (removed)</a:t>
            </a:r>
          </a:p>
          <a:p>
            <a:pPr lvl="1"/>
            <a:r>
              <a:rPr/>
              <a:t>** zero amount opportunities** (removed)</a:t>
            </a:r>
          </a:p>
          <a:p>
            <a:pPr lvl="1"/>
            <a:r>
              <a:rPr b="1"/>
              <a:t>12,921 rows</a:t>
            </a:r>
            <a:r>
              <a:rPr/>
              <a:t> where stage ratios do not sum closely to 1 (kept)</a:t>
            </a:r>
          </a:p>
          <a:p>
            <a:pPr lvl="0"/>
            <a:r>
              <a:rPr/>
              <a:t>For the modelling experiments shown here, the sample used </a:t>
            </a:r>
            <a:r>
              <a:rPr b="1"/>
              <a:t>75,819 eligible rows</a:t>
            </a:r>
            <a:r>
              <a:rPr/>
              <a:t> out of </a:t>
            </a:r>
            <a:r>
              <a:rPr b="1"/>
              <a:t>78,025 total rows</a:t>
            </a:r>
            <a:r>
              <a:rPr/>
              <a:t> with valid targets.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PUT A PLOT/TABLE WITH DATA HERE.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any business operations, we recommend segmenting clients by client size</a:t>
            </a:r>
          </a:p>
        </p:txBody>
      </p:sp>
      <p:pic>
        <p:nvPicPr>
          <p:cNvPr descr="assets/eda_client_segment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92300"/>
            <a:ext cx="40386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The portfolio is heavily concentrated in </a:t>
            </a:r>
            <a:r>
              <a:rPr b="1"/>
              <a:t>100K or less</a:t>
            </a:r>
            <a:r>
              <a:rPr/>
              <a:t> clients, so this segment should drive base operating playbooks and coverage models.</a:t>
            </a:r>
          </a:p>
          <a:p>
            <a:pPr lvl="0"/>
            <a:r>
              <a:rPr/>
              <a:t>Conversion is relatively similar across most size bands, which means client size is more useful for </a:t>
            </a:r>
            <a:r>
              <a:rPr b="1"/>
              <a:t>commercial treatment and value management</a:t>
            </a:r>
            <a:r>
              <a:rPr/>
              <a:t> than for win-rate targeting alone.</a:t>
            </a:r>
          </a:p>
          <a:p>
            <a:pPr lvl="0"/>
            <a:r>
              <a:rPr/>
              <a:t>Larger accounts still matter because deal economics improve materially with size, so client-size segmentation should inform account prioritization, service model, and sales effort allocation.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also recommend starting with a simple marketing funnel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(Re)Acquisition</a:t>
            </a:r>
            <a:r>
              <a:rPr/>
              <a:t> / no business in the past two years: 69,208 opportunities with a </a:t>
            </a:r>
            <a:r>
              <a:rPr b="1"/>
              <a:t>17.3%</a:t>
            </a:r>
            <a:r>
              <a:rPr/>
              <a:t> observed win rate.</a:t>
            </a:r>
          </a:p>
          <a:p>
            <a:pPr lvl="0"/>
            <a:r>
              <a:rPr b="1"/>
              <a:t>Engagement / upselling</a:t>
            </a:r>
            <a:r>
              <a:rPr/>
              <a:t>: 8,817 opportunities with a </a:t>
            </a:r>
            <a:r>
              <a:rPr b="1"/>
              <a:t>63.9%</a:t>
            </a:r>
            <a:r>
              <a:rPr/>
              <a:t> observed win rate.</a:t>
            </a:r>
          </a:p>
          <a:p>
            <a:pPr lvl="0"/>
            <a:r>
              <a:rPr/>
              <a:t>This is a practical first-layer funnel split for go-to-market operations because it separates low-history acquisition work from higher-propensity expansion opportunities.</a:t>
            </a:r>
          </a:p>
        </p:txBody>
      </p:sp>
      <p:pic>
        <p:nvPicPr>
          <p:cNvPr descr="assets/eda_two_phase_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38300"/>
            <a:ext cx="40386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Funnel phase explains more than client size inside the phase × segment matrix</a:t>
            </a:r>
          </a:p>
        </p:txBody>
      </p:sp>
      <p:pic>
        <p:nvPicPr>
          <p:cNvPr descr="assets/eda_funnel_x_seg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43100"/>
            <a:ext cx="4038600" cy="190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 </a:t>
            </a:r>
            <a:r>
              <a:rPr>
                <a:latin typeface="Courier"/>
              </a:rPr>
              <a:t>(Re)Acquisition</a:t>
            </a:r>
            <a:r>
              <a:rPr/>
              <a:t>, win rates stay low across client sizes (</a:t>
            </a:r>
            <a:r>
              <a:rPr b="1"/>
              <a:t>14%–19%</a:t>
            </a:r>
            <a:r>
              <a:rPr/>
              <a:t>).</a:t>
            </a:r>
          </a:p>
          <a:p>
            <a:pPr lvl="0"/>
            <a:r>
              <a:rPr/>
              <a:t>In </a:t>
            </a:r>
            <a:r>
              <a:rPr b="1"/>
              <a:t>Engagement / upselling</a:t>
            </a:r>
            <a:r>
              <a:rPr/>
              <a:t>, win rates stay much higher (</a:t>
            </a:r>
            <a:r>
              <a:rPr b="1"/>
              <a:t>47%–67%</a:t>
            </a:r>
            <a:r>
              <a:rPr/>
              <a:t>).</a:t>
            </a:r>
          </a:p>
          <a:p>
            <a:pPr lvl="0"/>
            <a:r>
              <a:rPr/>
              <a:t>The main implication is operational: whether the client has recent business matters more than client-size granularity for triage.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Process-time variables carry most of the predictive signal</a:t>
            </a:r>
          </a:p>
        </p:txBody>
      </p:sp>
      <p:pic>
        <p:nvPicPr>
          <p:cNvPr descr="assets/eda_iv_rank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92300"/>
            <a:ext cx="40386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assets/eda_other_var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2146300"/>
            <a:ext cx="4038600" cy="148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strongest IV signals for win/loss come from </a:t>
            </a:r>
            <a:r>
              <a:rPr b="1"/>
              <a:t>Total Days Identified Through Qualified</a:t>
            </a:r>
            <a:r>
              <a:rPr/>
              <a:t>, </a:t>
            </a:r>
            <a:r>
              <a:rPr b="1"/>
              <a:t>Elapsed Days In Sales Stage</a:t>
            </a:r>
            <a:r>
              <a:rPr/>
              <a:t>, and the stage-ratio variables.</a:t>
            </a:r>
          </a:p>
          <a:p>
            <a:pPr lvl="0"/>
            <a:r>
              <a:rPr/>
              <a:t>Both time-to-close and amount distributions are skewed, so the analysis should avoid over-interpreting averages without context.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Modelling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the selected use cases, we focused on building two models with different targets and purposes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Process prioritization: Win/loss classification model</a:t>
            </a:r>
          </a:p>
          <a:p>
            <a:pPr lvl="0"/>
            <a:r>
              <a:rPr/>
              <a:t>Target: </a:t>
            </a:r>
            <a:r>
              <a:rPr b="1"/>
              <a:t>Opportunity Result</a:t>
            </a:r>
            <a:r>
              <a:rPr/>
              <a:t>.</a:t>
            </a:r>
          </a:p>
          <a:p>
            <a:pPr lvl="0"/>
            <a:r>
              <a:rPr/>
              <a:t>Business use: </a:t>
            </a:r>
            <a:r>
              <a:rPr b="1"/>
              <a:t>process prioritization</a:t>
            </a:r>
            <a:r>
              <a:rPr/>
              <a:t> and ranking the pipeline by win propensity.</a:t>
            </a:r>
          </a:p>
          <a:p>
            <a:pPr lvl="0"/>
            <a:r>
              <a:rPr/>
              <a:t>Uses the full dynamic snapshot, including process timing and stage-ratio variables.</a:t>
            </a:r>
          </a:p>
          <a:p>
            <a:pPr lvl="0"/>
            <a:r>
              <a:rPr/>
              <a:t>Relevant transformations tested: log-transforming amount variables, supervised binning and standard/robust scaling and OHE encoding.</a:t>
            </a:r>
          </a:p>
          <a:p>
            <a:pPr lvl="0"/>
            <a:r>
              <a:rPr/>
              <a:t>Main metric focus is on </a:t>
            </a:r>
            <a:r>
              <a:rPr b="1"/>
              <a:t>ROC AUC</a:t>
            </a:r>
            <a:r>
              <a:rPr/>
              <a:t> and </a:t>
            </a:r>
            <a:r>
              <a:rPr b="1"/>
              <a:t>PR AUC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Opportunity Sizing and forecasting: Amount regression model</a:t>
            </a:r>
          </a:p>
          <a:p>
            <a:pPr lvl="0"/>
            <a:r>
              <a:rPr/>
              <a:t>Target: </a:t>
            </a:r>
            <a:r>
              <a:rPr b="1"/>
              <a:t>Opportunity Amount USD</a:t>
            </a:r>
            <a:r>
              <a:rPr/>
              <a:t>.</a:t>
            </a:r>
          </a:p>
          <a:p>
            <a:pPr lvl="0"/>
            <a:r>
              <a:rPr/>
              <a:t>Business use: </a:t>
            </a:r>
            <a:r>
              <a:rPr b="1"/>
              <a:t>sizing and aggregate forecasting</a:t>
            </a:r>
            <a:r>
              <a:rPr/>
              <a:t>.</a:t>
            </a:r>
          </a:p>
          <a:p>
            <a:pPr lvl="0"/>
            <a:r>
              <a:rPr/>
              <a:t>Also uses the full dynamic snapshot, so amount estimates reflect both customer context and current process state.</a:t>
            </a:r>
          </a:p>
          <a:p>
            <a:pPr lvl="0"/>
            <a:r>
              <a:rPr/>
              <a:t>Relevant transformations tested: log-transforming amount variables, supervised binning, standard/robust scaling and OHE encoding.</a:t>
            </a:r>
          </a:p>
          <a:p>
            <a:pPr lvl="0"/>
            <a:r>
              <a:rPr/>
              <a:t>Main metric focus is on </a:t>
            </a:r>
            <a:r>
              <a:rPr b="1"/>
              <a:t>MAE</a:t>
            </a:r>
            <a:r>
              <a:rPr/>
              <a:t> and </a:t>
            </a:r>
            <a:r>
              <a:rPr b="1"/>
              <a:t>MAPE</a:t>
            </a:r>
            <a:r>
              <a:rPr/>
              <a:t>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buNone/>
            </a:pPr>
            <a:r>
              <a:rPr b="1"/>
              <a:t>Variables used for both models:</a:t>
            </a:r>
            <a:r>
              <a:rPr/>
              <a:t> client size, route to market, region, competitor type, supplies / supplies subgroup, prior client revenue, sales-stage change count, elapsed days, total days, total Siebel days, and stage-ratio variables.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preparation and modelling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Train / test split</a:t>
            </a:r>
            <a:r>
              <a:rPr/>
              <a:t>: </a:t>
            </a:r>
            <a:r>
              <a:rPr b="1"/>
              <a:t>70% / 30%</a:t>
            </a:r>
          </a:p>
          <a:p>
            <a:pPr lvl="1"/>
            <a:r>
              <a:rPr/>
              <a:t>Train: </a:t>
            </a:r>
            <a:r>
              <a:rPr b="1"/>
              <a:t>53,073</a:t>
            </a:r>
            <a:r>
              <a:rPr/>
              <a:t> rows</a:t>
            </a:r>
          </a:p>
          <a:p>
            <a:pPr lvl="1"/>
            <a:r>
              <a:rPr/>
              <a:t>Test: </a:t>
            </a:r>
            <a:r>
              <a:rPr b="1"/>
              <a:t>22,746</a:t>
            </a:r>
            <a:r>
              <a:rPr/>
              <a:t> rows</a:t>
            </a:r>
          </a:p>
          <a:p>
            <a:pPr lvl="0"/>
            <a:r>
              <a:rPr/>
              <a:t>The split was </a:t>
            </a:r>
            <a:r>
              <a:rPr b="1"/>
              <a:t>stratified jointly</a:t>
            </a:r>
            <a:r>
              <a:rPr/>
              <a:t> on:</a:t>
            </a:r>
          </a:p>
          <a:p>
            <a:pPr lvl="1"/>
            <a:r>
              <a:rPr/>
              <a:t>win/loss target</a:t>
            </a:r>
          </a:p>
          <a:p>
            <a:pPr lvl="1"/>
            <a:r>
              <a:rPr/>
              <a:t>amount buckets</a:t>
            </a:r>
          </a:p>
          <a:p>
            <a:pPr lvl="0"/>
            <a:r>
              <a:rPr/>
              <a:t>This keeps both outcome balance and deal-size mix stable across train and test.</a:t>
            </a:r>
          </a:p>
          <a:p>
            <a:pPr lvl="0"/>
            <a:r>
              <a:rPr/>
              <a:t>In the final models, regression uses standardized numeric inputs, while the selected logistic classifier uses supervised binning plus one-hot encoding.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KIND OF DIAGRAM.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Win/loss classification is the stronger operational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Selected final logistic model: </a:t>
            </a:r>
            <a:r>
              <a:rPr b="1"/>
              <a:t>Logit + binned one-hot encoding</a:t>
            </a:r>
            <a:r>
              <a:rPr/>
              <a:t> (</a:t>
            </a:r>
            <a:r>
              <a:rPr>
                <a:latin typeface="Courier"/>
              </a:rPr>
              <a:t>logit_binned_ohe</a:t>
            </a:r>
            <a:r>
              <a:rPr/>
              <a:t>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PR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F1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0.596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Held-out 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0.598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descr="assets/classification_import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778000"/>
            <a:ext cx="4038600" cy="266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Amount regression supports planning, but is weaker than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Selected final regression model: </a:t>
            </a:r>
            <a:r>
              <a:rPr b="1"/>
              <a:t>classic_linear_standard_scaler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1003300"/>
                <a:gridCol w="10033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Median APE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74.3k USD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Held-out 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74.0k USD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78.5%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For comparison, the </a:t>
            </a:r>
            <a:r>
              <a:rPr b="1"/>
              <a:t>best-MAE</a:t>
            </a:r>
            <a:r>
              <a:rPr/>
              <a:t> CV model was </a:t>
            </a:r>
            <a:r>
              <a:rPr b="1">
                <a:latin typeface="Courier"/>
              </a:rPr>
              <a:t>huber_robust_scaler</a:t>
            </a:r>
            <a:r>
              <a:rPr/>
              <a:t>, with </a:t>
            </a:r>
            <a:r>
              <a:rPr b="1"/>
              <a:t>67.3k USD MAE</a:t>
            </a:r>
            <a:r>
              <a:rPr/>
              <a:t> but a much lower </a:t>
            </a:r>
            <a:r>
              <a:rPr b="1"/>
              <a:t>R² of 0.066</a:t>
            </a:r>
            <a:r>
              <a:rPr/>
              <a:t>.</a:t>
            </a:r>
          </a:p>
          <a:p>
            <a:pPr lvl="0"/>
            <a:r>
              <a:rPr/>
              <a:t>Largest direct coefficients are concentrated in specific transformed terms such as </a:t>
            </a:r>
            <a:r>
              <a:rPr b="1"/>
              <a:t>Route To Market: Telesales</a:t>
            </a:r>
            <a:r>
              <a:rPr/>
              <a:t>, </a:t>
            </a:r>
            <a:r>
              <a:rPr b="1"/>
              <a:t>Route To Market: Reseller</a:t>
            </a:r>
            <a:r>
              <a:rPr/>
              <a:t>, </a:t>
            </a:r>
            <a:r>
              <a:rPr b="1"/>
              <a:t>high prior-client revenue bands</a:t>
            </a:r>
            <a:r>
              <a:rPr/>
              <a:t>, </a:t>
            </a:r>
            <a:r>
              <a:rPr b="1"/>
              <a:t>missing competitor type</a:t>
            </a:r>
            <a:r>
              <a:rPr/>
              <a:t>, and </a:t>
            </a:r>
            <a:r>
              <a:rPr b="1"/>
              <a:t>Telecoverage</a:t>
            </a:r>
            <a:r>
              <a:rPr/>
              <a:t>.</a:t>
            </a:r>
          </a:p>
          <a:p>
            <a:pPr lvl="0"/>
            <a:r>
              <a:rPr/>
              <a:t>This is usable for directional comparisons and aggregate forecasting, but it is not as decision-ready as a precise result model.</a:t>
            </a:r>
          </a:p>
        </p:txBody>
      </p:sp>
      <p:pic>
        <p:nvPicPr>
          <p:cNvPr descr="assets/regression_import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7653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Application simulation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Prioritization simulation: the top decile captures 35.2% of held-out test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The model ranking is highly concentrated:</a:t>
            </a:r>
          </a:p>
          <a:p>
            <a:pPr lvl="1"/>
            <a:r>
              <a:rPr b="1"/>
              <a:t>Top decile</a:t>
            </a:r>
            <a:r>
              <a:rPr/>
              <a:t> captures </a:t>
            </a:r>
            <a:r>
              <a:rPr b="1"/>
              <a:t>35.2%</a:t>
            </a:r>
            <a:r>
              <a:rPr/>
              <a:t> of all test wins.</a:t>
            </a:r>
          </a:p>
          <a:p>
            <a:pPr lvl="1"/>
            <a:r>
              <a:rPr b="1"/>
              <a:t>Top two deciles</a:t>
            </a:r>
            <a:r>
              <a:rPr/>
              <a:t> capture </a:t>
            </a:r>
            <a:r>
              <a:rPr b="1"/>
              <a:t>64.8%</a:t>
            </a:r>
            <a:r>
              <a:rPr/>
              <a:t> of all test wins.</a:t>
            </a:r>
          </a:p>
          <a:p>
            <a:pPr lvl="0"/>
            <a:r>
              <a:rPr/>
              <a:t>This supports a </a:t>
            </a:r>
            <a:r>
              <a:rPr b="1"/>
              <a:t>process-prioritization</a:t>
            </a:r>
            <a:r>
              <a:rPr/>
              <a:t> use case: sales effort can be focused on a much smaller slice of the pipeline.</a:t>
            </a:r>
          </a:p>
          <a:p>
            <a:pPr lvl="0"/>
            <a:r>
              <a:rPr/>
              <a:t>This simulation is based on held-out test-set predictions from the final logistic model.</a:t>
            </a:r>
          </a:p>
        </p:txBody>
      </p:sp>
      <p:pic>
        <p:nvPicPr>
          <p:cNvPr descr="assets/sim_prioritiz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383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Forecast simulation: predicted total sales closely matches the observed aggregate total</a:t>
            </a:r>
          </a:p>
        </p:txBody>
      </p:sp>
      <p:pic>
        <p:nvPicPr>
          <p:cNvPr descr="assets/sim_forecast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383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Aggregate actual amount: </a:t>
            </a:r>
            <a:r>
              <a:rPr b="1"/>
              <a:t>2.138B USD</a:t>
            </a:r>
            <a:r>
              <a:rPr/>
              <a:t> on the held-out test set.</a:t>
            </a:r>
          </a:p>
          <a:p>
            <a:pPr lvl="0"/>
            <a:r>
              <a:rPr/>
              <a:t>Aggregate predicted amount: </a:t>
            </a:r>
            <a:r>
              <a:rPr b="1"/>
              <a:t>2.139B USD</a:t>
            </a:r>
            <a:r>
              <a:rPr/>
              <a:t> on the held-out test set.</a:t>
            </a:r>
          </a:p>
          <a:p>
            <a:pPr lvl="0"/>
            <a:r>
              <a:rPr/>
              <a:t>Mean absolute error per opportunity: </a:t>
            </a:r>
            <a:r>
              <a:rPr b="1"/>
              <a:t>74.0k USD</a:t>
            </a:r>
            <a:r>
              <a:rPr/>
              <a:t>.</a:t>
            </a:r>
          </a:p>
          <a:p>
            <a:pPr lvl="0"/>
            <a:r>
              <a:rPr/>
              <a:t>The forecasting story is therefore strongest at the </a:t>
            </a:r>
            <a:r>
              <a:rPr b="1"/>
              <a:t>portfolio level</a:t>
            </a:r>
            <a:r>
              <a:rPr/>
              <a:t>, not at the individual-opportunity level.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means for commercial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two selected targets are explicit:</a:t>
            </a:r>
          </a:p>
          <a:p>
            <a:pPr lvl="1"/>
            <a:r>
              <a:rPr b="1"/>
              <a:t>Result model</a:t>
            </a:r>
            <a:r>
              <a:rPr/>
              <a:t> for prioritization</a:t>
            </a:r>
          </a:p>
          <a:p>
            <a:pPr lvl="1"/>
            <a:r>
              <a:rPr b="1"/>
              <a:t>Amount model</a:t>
            </a:r>
            <a:r>
              <a:rPr/>
              <a:t> for sizing and forecasting</a:t>
            </a:r>
          </a:p>
          <a:p>
            <a:pPr lvl="0"/>
            <a:r>
              <a:rPr/>
              <a:t>The two selected models are explicit throughout the project narrative:</a:t>
            </a:r>
          </a:p>
          <a:p>
            <a:pPr lvl="1"/>
            <a:r>
              <a:rPr b="1"/>
              <a:t>Best logistic win/loss classification</a:t>
            </a:r>
            <a:r>
              <a:rPr/>
              <a:t> for prioritization</a:t>
            </a:r>
          </a:p>
          <a:p>
            <a:pPr lvl="1"/>
            <a:r>
              <a:rPr b="1"/>
              <a:t>Dynamic amount regression</a:t>
            </a:r>
            <a:r>
              <a:rPr/>
              <a:t> for sizing and forecasting</a:t>
            </a:r>
          </a:p>
          <a:p>
            <a:pPr lvl="0"/>
            <a:r>
              <a:rPr/>
              <a:t>The main recommendation is to pilot the </a:t>
            </a:r>
            <a:r>
              <a:rPr b="1"/>
              <a:t>result model first</a:t>
            </a:r>
            <a:r>
              <a:rPr/>
              <a:t>, while treating amount forecasting as an aggregate planning aid built from the same dynamic feature set.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Thank you</a:t>
            </a:r>
          </a:p>
          <a:p>
            <a:pPr lvl="0" indent="0" marL="0">
              <a:buNone/>
            </a:pPr>
            <a:r>
              <a:rPr/>
              <a:t>Questions, caveats, and next steps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MIB Cars Analysis</dc:title>
  <dc:creator>Strategic Analysis Group</dc:creator>
  <cp:keywords/>
  <dcterms:created xsi:type="dcterms:W3CDTF">2026-03-29T17:14:36Z</dcterms:created>
  <dcterms:modified xsi:type="dcterms:W3CDTF">2026-03-29T17:14:36Z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enter">
    <vt:lpwstr>False</vt:lpwstr>
  </property>
  <property fmtid="{D5CDD505-2E9C-101B-9397-08002B2CF9AE}" pid="6" name="header-includes">
    <vt:lpwstr/>
  </property>
  <property fmtid="{D5CDD505-2E9C-101B-9397-08002B2CF9AE}" pid="7" name="height">
    <vt:lpwstr>9in</vt:lpwstr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Commercial prioritization and forecasting from sales opportunity data</vt:lpwstr>
  </property>
  <property fmtid="{D5CDD505-2E9C-101B-9397-08002B2CF9AE}" pid="12" name="toc-title">
    <vt:lpwstr>Table of contents</vt:lpwstr>
  </property>
  <property fmtid="{D5CDD505-2E9C-101B-9397-08002B2CF9AE}" pid="13" name="width">
    <vt:lpwstr>16in</vt:lpwstr>
  </property>
</Properties>
</file>