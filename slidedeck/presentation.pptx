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1" Type="http://schemas.openxmlformats.org/officeDocument/2006/relationships/viewProps" Target="viewProps.xml" /><Relationship Id="rId4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3" Type="http://schemas.openxmlformats.org/officeDocument/2006/relationships/tableStyles" Target="tableStyles.xml" /><Relationship Id="rId4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MIB Cars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Commercial prioritization and forecasting from sales opportunity data</a:t>
            </a:r>
            <a:br/>
            <a:br/>
            <a:r>
              <a:rPr/>
              <a:t>Strategic Analysis Group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Executive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analysis examines an auto-parts sales opportunity pipeline, identifying structural inefficiencies (i.e. CRM input errors, lack of prioritization, and inaccurate forecasting) that drive a structurally low 22.7% conversion rate.</a:t>
            </a:r>
          </a:p>
          <a:p>
            <a:pPr lvl="0"/>
            <a:r>
              <a:rPr/>
              <a:t>We propose two models: a win/loss classifier (AUROC 0.88) for opportunity prioritization, and a regression model for deal sizing and aggregate forecasting (reliable at portfolio level, not per deal).</a:t>
            </a:r>
          </a:p>
          <a:p>
            <a:pPr lvl="0"/>
            <a:r>
              <a:rPr/>
              <a:t>Focusing on the top 20% of opportunities lifts conversion from 22.7% to ~67%; the top 10% captures ~44% of total pipeline value.</a:t>
            </a:r>
          </a:p>
          <a:p>
            <a:pPr lvl="0"/>
            <a:r>
              <a:rPr/>
              <a:t>We recommend embedding scores in the CRM at opportunity creation, piloting via A/B test, and setting clear thresholds to operationalize prioritization in sales workflows.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Business framing and process assumptions</a:t>
            </a:r>
          </a:p>
          <a:p>
            <a:pPr lvl="0" indent="-342900" marL="342900">
              <a:buAutoNum type="arabicPeriod"/>
            </a:pPr>
            <a:r>
              <a:rPr/>
              <a:t>Dataset and target overview</a:t>
            </a:r>
          </a:p>
          <a:p>
            <a:pPr lvl="0" indent="-342900" marL="342900">
              <a:buAutoNum type="arabicPeriod"/>
            </a:pPr>
            <a:r>
              <a:rPr/>
              <a:t>EDA findings that matter for prioritization and forecasting</a:t>
            </a:r>
          </a:p>
          <a:p>
            <a:pPr lvl="0" indent="-342900" marL="342900">
              <a:buAutoNum type="arabicPeriod"/>
            </a:pPr>
            <a:r>
              <a:rPr/>
              <a:t>Modelling approach and model outputs</a:t>
            </a:r>
          </a:p>
          <a:p>
            <a:pPr lvl="0" indent="-342900" marL="342900">
              <a:buAutoNum type="arabicPeriod"/>
            </a:pPr>
            <a:r>
              <a:rPr/>
              <a:t>Application simulations</a:t>
            </a:r>
          </a:p>
          <a:p>
            <a:pPr lvl="0" indent="-342900" marL="342900">
              <a:buAutoNum type="arabicPeriod"/>
            </a:pPr>
            <a:r>
              <a:rPr/>
              <a:t>Conclusions and next steps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Business framing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sales process is non-linear, and the data captures its current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The current sales process tracks auto-parts opportunities across both new leads and existing customers.</a:t>
            </a:r>
          </a:p>
          <a:p>
            <a:pPr lvl="0"/>
            <a:r>
              <a:rPr/>
              <a:t>Opportunities transition between the stages Data entry → Identified / Qualifying → Qualified / Validating, and Validated / Gaining Agreement → Closed (Win/Loss).</a:t>
            </a:r>
          </a:p>
          <a:p>
            <a:pPr lvl="1"/>
            <a:r>
              <a:rPr/>
              <a:t>Opportunities can move between stages in either direction, and they can also stall within a stage for extended periods.</a:t>
            </a:r>
          </a:p>
          <a:p>
            <a:pPr lvl="1"/>
            <a:r>
              <a:rPr/>
              <a:t>Each opportunity ultimately resolves as either a win or a loss.</a:t>
            </a:r>
          </a:p>
          <a:p>
            <a:pPr lvl="1"/>
            <a:r>
              <a:rPr/>
              <a:t>Sales teams maintain an estimated deal value, which is updated as the opportunity progresses.</a:t>
            </a:r>
          </a:p>
        </p:txBody>
      </p:sp>
      <p:pic>
        <p:nvPicPr>
          <p:cNvPr descr="assets/proces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784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value sits in a small share of opportunities making prioritization an important growth lever</a:t>
            </a:r>
          </a:p>
        </p:txBody>
      </p:sp>
      <p:pic>
        <p:nvPicPr>
          <p:cNvPr descr="assets/eda_amount_win_rat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765300"/>
            <a:ext cx="4038600" cy="2247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The pipeline is high-volume but low-yield: only 22.7% of opportunities convert, meaning most effort is currently misallocated.</a:t>
            </a:r>
          </a:p>
          <a:p>
            <a:pPr lvl="0"/>
            <a:r>
              <a:rPr/>
              <a:t>Value is highly concentrated: the majority of opportunities are low-amount, but win rates increase materially with deal size, signaling where commercial focus should shift.</a:t>
            </a:r>
          </a:p>
          <a:p>
            <a:pPr lvl="0"/>
            <a:r>
              <a:rPr/>
              <a:t>This creates a clear opportunity: → Move from volume-driven selling to value-driven prioritization, combining win propensity + deal size.</a:t>
            </a:r>
          </a:p>
          <a:p>
            <a:pPr lvl="0"/>
            <a:r>
              <a:rPr/>
              <a:t>The implication is direct: → Not all opportunities should be pursued equally — targeting the right deals can lift conversion and revenue without increasing pipeline size.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Therefore, we propose two modelling use cases: prioritization and forecasting, plus additional data-driven commercial opportunities.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Selected for this project</a:t>
            </a:r>
          </a:p>
          <a:p>
            <a:pPr lvl="0"/>
            <a:r>
              <a:rPr b="1"/>
              <a:t>Process prioritization</a:t>
            </a:r>
            <a:r>
              <a:rPr/>
              <a:t>: rank opportunities by win propensity and support decisions on where sales effort should focus first.</a:t>
            </a:r>
          </a:p>
          <a:p>
            <a:pPr lvl="0"/>
            <a:r>
              <a:rPr b="1"/>
              <a:t>Opportunity sizing &amp; forecasting</a:t>
            </a:r>
            <a:r>
              <a:rPr/>
              <a:t>: estimate deal value and aggregate expected sales for planning, prioritization, and budget visibility.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opportunities identified in the data</a:t>
            </a:r>
          </a:p>
          <a:p>
            <a:pPr lvl="0"/>
            <a:r>
              <a:rPr b="1"/>
              <a:t>Channel optimization</a:t>
            </a:r>
            <a:r>
              <a:rPr/>
              <a:t>: test what-if scenarios around route-to-market and engagement model choices.</a:t>
            </a:r>
          </a:p>
          <a:p>
            <a:pPr lvl="0"/>
            <a:r>
              <a:rPr b="1"/>
              <a:t>Secondary market segmentation</a:t>
            </a:r>
            <a:r>
              <a:rPr/>
              <a:t>: create actionable commercial segments from predicted value and conversion potential.</a:t>
            </a:r>
          </a:p>
          <a:p>
            <a:pPr lvl="0"/>
            <a:r>
              <a:rPr b="1"/>
              <a:t>Early warning systems</a:t>
            </a:r>
            <a:r>
              <a:rPr/>
              <a:t>: flag opportunities that are likely to deteriorate or stall.</a:t>
            </a:r>
          </a:p>
          <a:p>
            <a:pPr lvl="0"/>
            <a:r>
              <a:rPr b="1"/>
              <a:t>Budget allocation</a:t>
            </a:r>
            <a:r>
              <a:rPr/>
              <a:t>: guide sales effort and product-focus decisions across segments, regions, and product lines.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Exploratory data analysis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dataset was analyzed and prepared with the two use cases in mind, which shaped the EDA focus and modelling choices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Scale</a:t>
            </a:r>
            <a:r>
              <a:rPr/>
              <a:t>: 78,025 sales opportunities and </a:t>
            </a:r>
            <a:r>
              <a:rPr b="1"/>
              <a:t>19 variables</a:t>
            </a:r>
            <a:r>
              <a:rPr/>
              <a:t>.</a:t>
            </a:r>
          </a:p>
          <a:p>
            <a:pPr lvl="0"/>
            <a:r>
              <a:rPr/>
              <a:t>Validation checks flagged duplicates and process-consistency issues before modelling. Key preparation findings:</a:t>
            </a:r>
          </a:p>
          <a:p>
            <a:pPr lvl="1"/>
            <a:r>
              <a:rPr b="1"/>
              <a:t>196 duplicated opportunity IDs</a:t>
            </a:r>
            <a:r>
              <a:rPr/>
              <a:t> (removed)</a:t>
            </a:r>
          </a:p>
          <a:p>
            <a:pPr lvl="1"/>
            <a:r>
              <a:rPr b="1"/>
              <a:t>2047 zero amount opportunities</a:t>
            </a:r>
            <a:r>
              <a:rPr/>
              <a:t> (removed)</a:t>
            </a:r>
          </a:p>
          <a:p>
            <a:pPr lvl="1"/>
            <a:r>
              <a:rPr b="1"/>
              <a:t>12,921 rows</a:t>
            </a:r>
            <a:r>
              <a:rPr/>
              <a:t> where stage ratios do not sum closely to 1 (kept)</a:t>
            </a:r>
          </a:p>
          <a:p>
            <a:pPr lvl="1"/>
            <a:r>
              <a:rPr/>
              <a:t>And other problems such as apparent data input issues, missing values, and outliers that were handled with specific transformations rather than row removal.</a:t>
            </a:r>
          </a:p>
          <a:p>
            <a:pPr lvl="0"/>
            <a:r>
              <a:rPr/>
              <a:t>For the modelling experiments shown here, the sample used </a:t>
            </a:r>
            <a:r>
              <a:rPr b="1"/>
              <a:t>75,819 eligible rows</a:t>
            </a:r>
            <a:r>
              <a:rPr/>
              <a:t> out of </a:t>
            </a:r>
            <a:r>
              <a:rPr b="1"/>
              <a:t>78,025 total rows</a:t>
            </a:r>
            <a:r>
              <a:rPr/>
              <a:t> with valid targets.</a:t>
            </a:r>
          </a:p>
        </p:txBody>
      </p:sp>
      <p:pic>
        <p:nvPicPr>
          <p:cNvPr descr="assets/number_of_proble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Problems identified in the data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Align coverage and service models to client size, focusing scalable playbooks on small clients and dedicated effort on high-value accounts.</a:t>
            </a:r>
          </a:p>
        </p:txBody>
      </p:sp>
      <p:pic>
        <p:nvPicPr>
          <p:cNvPr descr="assets/eda_client_segmenta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892300"/>
            <a:ext cx="4038600" cy="199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The portfolio is heavily concentrated in </a:t>
            </a:r>
            <a:r>
              <a:rPr b="1"/>
              <a:t>100K or less</a:t>
            </a:r>
            <a:r>
              <a:rPr/>
              <a:t> clients, so this segment should drive base operating playbooks and coverage models.</a:t>
            </a:r>
          </a:p>
          <a:p>
            <a:pPr lvl="0"/>
            <a:r>
              <a:rPr/>
              <a:t>Conversion is relatively similar across most size bands, which means client size is more useful for </a:t>
            </a:r>
            <a:r>
              <a:rPr b="1"/>
              <a:t>commercial treatment and value management</a:t>
            </a:r>
            <a:r>
              <a:rPr/>
              <a:t> than for win-rate targeting alone.</a:t>
            </a:r>
          </a:p>
          <a:p>
            <a:pPr lvl="0"/>
            <a:r>
              <a:rPr/>
              <a:t>Larger accounts still matter because deal economics improve materially with size, so client-size segmentation should inform account prioritization, service model, and sales effort allocation.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Treat acquisition and expansion as distinct growth engines, each with its own playbook and resource model.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(Re)Acquisition</a:t>
            </a:r>
            <a:r>
              <a:rPr/>
              <a:t> / no business in the past two years: 69,208 opportunities with a </a:t>
            </a:r>
            <a:r>
              <a:rPr b="1"/>
              <a:t>17.3%</a:t>
            </a:r>
            <a:r>
              <a:rPr/>
              <a:t> observed win rate.</a:t>
            </a:r>
          </a:p>
          <a:p>
            <a:pPr lvl="0"/>
            <a:r>
              <a:rPr b="1"/>
              <a:t>Engagement / upselling</a:t>
            </a:r>
            <a:r>
              <a:rPr/>
              <a:t>: 8,817 opportunities with a </a:t>
            </a:r>
            <a:r>
              <a:rPr b="1"/>
              <a:t>63.9%</a:t>
            </a:r>
            <a:r>
              <a:rPr/>
              <a:t> observed win rate.</a:t>
            </a:r>
          </a:p>
          <a:p>
            <a:pPr lvl="0"/>
            <a:r>
              <a:rPr/>
              <a:t>This is a practical first-layer funnel split for go-to-market operations because it separates low-history acquisition work from higher-propensity expansion opportunities.</a:t>
            </a:r>
          </a:p>
        </p:txBody>
      </p:sp>
      <p:pic>
        <p:nvPicPr>
          <p:cNvPr descr="assets/eda_two_phase_funn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38300"/>
            <a:ext cx="4038600" cy="250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ran an automated IV analysis and found that process-time variables carry most of the predictive signal</a:t>
            </a:r>
          </a:p>
        </p:txBody>
      </p:sp>
      <p:pic>
        <p:nvPicPr>
          <p:cNvPr descr="assets/eda_iv_ranki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892300"/>
            <a:ext cx="40386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assets/eda_other_vars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146300"/>
            <a:ext cx="4038600" cy="1485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strongest IV signals for win/loss come from </a:t>
            </a:r>
            <a:r>
              <a:rPr b="1"/>
              <a:t>Total Days Identified Through Qualified</a:t>
            </a:r>
            <a:r>
              <a:rPr/>
              <a:t>, </a:t>
            </a:r>
            <a:r>
              <a:rPr b="1"/>
              <a:t>Elapsed Days In Sales Stage</a:t>
            </a:r>
            <a:r>
              <a:rPr/>
              <a:t>, and the stage-ratio variables.</a:t>
            </a:r>
          </a:p>
          <a:p>
            <a:pPr lvl="0"/>
            <a:r>
              <a:rPr/>
              <a:t>Both time-to-close and amount distributions are skewed, so the analysis should avoid over-interpreting averages without context.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Modelling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both classification and regression, we used an stratified train/test split to ensure realistic evaluation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Train / test split</a:t>
            </a:r>
            <a:r>
              <a:rPr/>
              <a:t>: </a:t>
            </a:r>
            <a:r>
              <a:rPr b="1"/>
              <a:t>70% / 30%</a:t>
            </a:r>
          </a:p>
          <a:p>
            <a:pPr lvl="1"/>
            <a:r>
              <a:rPr/>
              <a:t>Train: </a:t>
            </a:r>
            <a:r>
              <a:rPr b="1"/>
              <a:t>53,073</a:t>
            </a:r>
            <a:r>
              <a:rPr/>
              <a:t> rows</a:t>
            </a:r>
          </a:p>
          <a:p>
            <a:pPr lvl="1"/>
            <a:r>
              <a:rPr/>
              <a:t>Test: </a:t>
            </a:r>
            <a:r>
              <a:rPr b="1"/>
              <a:t>22,746</a:t>
            </a:r>
            <a:r>
              <a:rPr/>
              <a:t> rows</a:t>
            </a:r>
          </a:p>
          <a:p>
            <a:pPr lvl="0"/>
            <a:r>
              <a:rPr/>
              <a:t>The split was </a:t>
            </a:r>
            <a:r>
              <a:rPr b="1"/>
              <a:t>stratified jointly</a:t>
            </a:r>
            <a:r>
              <a:rPr/>
              <a:t> on:</a:t>
            </a:r>
          </a:p>
          <a:p>
            <a:pPr lvl="1"/>
            <a:r>
              <a:rPr/>
              <a:t>win/loss target</a:t>
            </a:r>
          </a:p>
          <a:p>
            <a:pPr lvl="1"/>
            <a:r>
              <a:rPr/>
              <a:t>amount buckets</a:t>
            </a:r>
          </a:p>
          <a:p>
            <a:pPr lvl="0"/>
            <a:r>
              <a:rPr/>
              <a:t>This keeps both outcome balance and deal-size mix stable across train and test.</a:t>
            </a:r>
          </a:p>
          <a:p>
            <a:pPr lvl="0"/>
            <a:r>
              <a:rPr/>
              <a:t>In the final models, regression uses standardized numeric inputs, while the selected logistic classifier uses supervised binning plus one-hot encoding.</a:t>
            </a:r>
          </a:p>
        </p:txBody>
      </p:sp>
      <p:pic>
        <p:nvPicPr>
          <p:cNvPr descr="assets/model_split_treem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12900"/>
            <a:ext cx="40386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Prioritization classification model enables immediate and precise reallocation of sales effort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Target: </a:t>
            </a:r>
            <a:r>
              <a:rPr b="1"/>
              <a:t>Opportunity Result</a:t>
            </a:r>
            <a:r>
              <a:rPr/>
              <a:t>.</a:t>
            </a:r>
          </a:p>
          <a:p>
            <a:pPr lvl="0"/>
            <a:r>
              <a:rPr/>
              <a:t>Business use: </a:t>
            </a:r>
            <a:r>
              <a:rPr b="1"/>
              <a:t>process prioritization</a:t>
            </a:r>
            <a:r>
              <a:rPr/>
              <a:t> and ranking the pipeline by win propensity.</a:t>
            </a:r>
          </a:p>
          <a:p>
            <a:pPr lvl="0"/>
            <a:r>
              <a:rPr/>
              <a:t>Selected final logistic model: </a:t>
            </a:r>
            <a:r>
              <a:rPr b="1"/>
              <a:t>Calibrated Logistic Regression over supervisedly binned and one-hot encoded features with balanced class weights</a:t>
            </a:r>
            <a:r>
              <a:rPr/>
              <a:t> (</a:t>
            </a:r>
            <a:r>
              <a:rPr>
                <a:latin typeface="Courier"/>
              </a:rPr>
              <a:t>logit_binned_ohe_balanced_calibrated</a:t>
            </a:r>
            <a:r>
              <a:rPr/>
              <a:t>). [^1]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3300"/>
                <a:gridCol w="1003300"/>
                <a:gridCol w="1003300"/>
                <a:gridCol w="1003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Split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ROC AUC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PR AUC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Selected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0.881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0.698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Selected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Held-out 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0.877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0.693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Baseline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0.228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Baseline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Held-out 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0.229</a:t>
                      </a:r>
                    </a:p>
                  </a:txBody>
                </a:tc>
              </a:tr>
            </a:tbl>
          </a:graphicData>
        </a:graphic>
      </p:graphicFrame>
      <p:pic>
        <p:nvPicPr>
          <p:cNvPr descr="assets/classification_roc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27600" y="1625600"/>
            <a:ext cx="3454400" cy="295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simulation is based on held-out test-set predictions. [^1]: We still do not recommend the higher-scoring XGBoost variants for deployment here because of their black-box nature and because they were not part of the covered modelling stack.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amount model for portfolio forecasting, not deal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Target: </a:t>
            </a:r>
            <a:r>
              <a:rPr b="1"/>
              <a:t>Opportunity Amount USD</a:t>
            </a:r>
            <a:r>
              <a:rPr/>
              <a:t>.</a:t>
            </a:r>
          </a:p>
          <a:p>
            <a:pPr lvl="0"/>
            <a:r>
              <a:rPr/>
              <a:t>Business use: </a:t>
            </a:r>
            <a:r>
              <a:rPr b="1"/>
              <a:t>sizing and aggregate forecasting</a:t>
            </a:r>
            <a:r>
              <a:rPr/>
              <a:t>.</a:t>
            </a:r>
          </a:p>
          <a:p>
            <a:pPr lvl="0"/>
            <a:r>
              <a:rPr/>
              <a:t>Selected final regression model: </a:t>
            </a:r>
            <a:r>
              <a:rPr b="1"/>
              <a:t>XGBoost regressor</a:t>
            </a:r>
            <a:r>
              <a:rPr/>
              <a:t> (</a:t>
            </a:r>
            <a:r>
              <a:rPr>
                <a:latin typeface="Courier"/>
              </a:rPr>
              <a:t>xgboost</a:t>
            </a:r>
            <a:r>
              <a:rPr/>
              <a:t>).</a:t>
            </a:r>
          </a:p>
          <a:p>
            <a:pPr lvl="0" indent="0" marL="0">
              <a:buNone/>
            </a:pPr>
            <a:r>
              <a:rPr b="1"/>
              <a:t>CV</a:t>
            </a:r>
          </a:p>
        </p:txBody>
      </p:sp>
      <p:pic>
        <p:nvPicPr>
          <p:cNvPr descr="assets/regression_importanc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562100"/>
            <a:ext cx="4038600" cy="265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Application simulation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Tripling conversion is achievable by focusing on the top 20% of opportunities, without increasing pipeline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Sales effort is currently spread across low-probability deals → concentrating on top deciles can triple conversion efficiency.</a:t>
            </a:r>
          </a:p>
          <a:p>
            <a:pPr lvl="1"/>
            <a:r>
              <a:rPr/>
              <a:t>Top decile: 3.52× lift.</a:t>
            </a:r>
          </a:p>
          <a:p>
            <a:pPr lvl="1"/>
            <a:r>
              <a:rPr/>
              <a:t>Ninth decile: 2.38× lift.</a:t>
            </a:r>
          </a:p>
          <a:p>
            <a:pPr lvl="1"/>
            <a:r>
              <a:rPr/>
              <a:t>Eight decile: 1.66× lift.</a:t>
            </a:r>
          </a:p>
          <a:p>
            <a:pPr lvl="0"/>
            <a:r>
              <a:rPr/>
              <a:t>We propose to automatically embed this in the CRM at opportunity creation to prioritize high-propensity deals (e.g. top 1-2 deciles) and set clear thresholds for pipeline reviews and resource allocation.</a:t>
            </a:r>
          </a:p>
          <a:p>
            <a:pPr lvl="0" indent="0" marL="0">
              <a:buNone/>
            </a:pPr>
            <a:r>
              <a:rPr/>
              <a:t>This simulation is based on held-out test-set predictions.</a:t>
            </a:r>
          </a:p>
        </p:txBody>
      </p:sp>
      <p:pic>
        <p:nvPicPr>
          <p:cNvPr descr="assets/sim_prioritiza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383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Leverage the opportunity sizing model for accurate aggregate forecasting, not individual deal sizing</a:t>
            </a:r>
          </a:p>
        </p:txBody>
      </p:sp>
      <p:pic>
        <p:nvPicPr>
          <p:cNvPr descr="assets/sim_forecasti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510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Model is better at forecasting aggregate sales than individual-opportunity amounts, which is common in this type of data.</a:t>
            </a:r>
          </a:p>
          <a:p>
            <a:pPr lvl="1"/>
            <a:r>
              <a:rPr/>
              <a:t>Aggregate actual amount: </a:t>
            </a:r>
            <a:r>
              <a:rPr b="1"/>
              <a:t>2.138B USD</a:t>
            </a:r>
            <a:r>
              <a:rPr/>
              <a:t> on the held-out test set.</a:t>
            </a:r>
          </a:p>
          <a:p>
            <a:pPr lvl="1"/>
            <a:r>
              <a:rPr/>
              <a:t>Aggregate predicted amount: </a:t>
            </a:r>
            <a:r>
              <a:rPr b="1"/>
              <a:t>2.142B USD</a:t>
            </a:r>
            <a:r>
              <a:rPr/>
              <a:t> on the held-out test set.</a:t>
            </a:r>
          </a:p>
          <a:p>
            <a:pPr lvl="1"/>
            <a:r>
              <a:rPr/>
              <a:t>Mean absolute error per opportunity: </a:t>
            </a:r>
            <a:r>
              <a:rPr b="1"/>
              <a:t>71.9k USD</a:t>
            </a:r>
            <a:r>
              <a:rPr/>
              <a:t>.</a:t>
            </a:r>
          </a:p>
          <a:p>
            <a:pPr lvl="0"/>
            <a:r>
              <a:rPr/>
              <a:t>We propose automatically calculating and adding this to the CRM at opportunity creation for aggregate planning and scenario analysis, but not for precise opportunity-level decisions because its value is strongest at the portfolio level.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simulation is based on held-out test-set predictions.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Concentration (~45% value capture at top 10%) makes expected-value prioritization a key revenue lever</a:t>
            </a:r>
          </a:p>
        </p:txBody>
      </p:sp>
      <p:pic>
        <p:nvPicPr>
          <p:cNvPr descr="assets/sim_expected_value_threshol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82700"/>
            <a:ext cx="4038600" cy="320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Rank the pipeline using expected value (E[Amount] × P(Win)), not just propensity especially under limited sales capacity.</a:t>
            </a:r>
          </a:p>
          <a:p>
            <a:pPr lvl="1"/>
            <a:r>
              <a:rPr/>
              <a:t>At top 10%, expected-value ranking captures 45.3% of won revenue vs 34.8% with propensity-only.</a:t>
            </a:r>
          </a:p>
          <a:p>
            <a:pPr lvl="1"/>
            <a:r>
              <a:rPr/>
              <a:t>At top 25%, the comparison is 71.7% vs 66.8%, so deal-size information matters most when capacity is tight.</a:t>
            </a:r>
          </a:p>
          <a:p>
            <a:pPr lvl="1"/>
            <a:r>
              <a:rPr/>
              <a:t>While overoptimistic, rankings remain directionally valid and can be calibrated in-model in follow-up iterations.</a:t>
            </a:r>
          </a:p>
          <a:p>
            <a:pPr lvl="0"/>
            <a:r>
              <a:rPr/>
              <a:t>We propose to set clear thresholds (e.g., top 10% = high priority) and embed in the CRM to guide sales focus with a more economically relevant ranking than win propensity alone.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simulation is based on held-out test-set predictions. This analysis assumes that the opportunity amount is actually related to the final deal amount, which is not necessarily the case.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Turn models into daily sales decisions via CRM 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Operational flow</a:t>
            </a:r>
          </a:p>
          <a:p>
            <a:pPr lvl="0" indent="0" marL="0">
              <a:buNone/>
            </a:pPr>
            <a:r>
              <a:rPr b="1"/>
              <a:t>Opportunity created</a:t>
            </a:r>
            <a:r>
              <a:rPr/>
              <a:t> → </a:t>
            </a:r>
            <a:r>
              <a:rPr b="1"/>
              <a:t>score + expected value generated</a:t>
            </a:r>
          </a:p>
          <a:p>
            <a:pPr lvl="0"/>
            <a:r>
              <a:rPr/>
              <a:t>As soon as a new opportunity enters the CRM, the workflow generates:</a:t>
            </a:r>
          </a:p>
          <a:p>
            <a:pPr lvl="1"/>
            <a:r>
              <a:rPr b="1"/>
              <a:t>win-propensity score</a:t>
            </a:r>
          </a:p>
          <a:p>
            <a:pPr lvl="1"/>
            <a:r>
              <a:rPr b="1"/>
              <a:t>predicted amount</a:t>
            </a:r>
          </a:p>
          <a:p>
            <a:pPr lvl="1"/>
            <a:r>
              <a:rPr b="1"/>
              <a:t>expected value = E[Amount] × P(Win)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CRM displays</a:t>
            </a:r>
          </a:p>
          <a:p>
            <a:pPr lvl="0"/>
            <a:r>
              <a:rPr b="1"/>
              <a:t>Priority tier</a:t>
            </a:r>
            <a:r>
              <a:rPr/>
              <a:t>: Top 10%, Top 25%, Top 50%, etc.</a:t>
            </a:r>
          </a:p>
          <a:p>
            <a:pPr lvl="0"/>
            <a:r>
              <a:rPr b="1"/>
              <a:t>Suggested action</a:t>
            </a:r>
            <a:r>
              <a:rPr/>
              <a:t>: focus / monitor / deprioritize</a:t>
            </a:r>
          </a:p>
          <a:p>
            <a:pPr lvl="0"/>
            <a:r>
              <a:rPr/>
              <a:t>This gives frontline teams a simple operating signal without exposing model internals.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Weekly pipeline reviews</a:t>
            </a:r>
          </a:p>
          <a:p>
            <a:pPr lvl="0"/>
            <a:r>
              <a:rPr/>
              <a:t>Use </a:t>
            </a:r>
            <a:r>
              <a:rPr b="1"/>
              <a:t>threshold-based filtering</a:t>
            </a:r>
            <a:r>
              <a:rPr/>
              <a:t> to narrow the active pipeline before review.</a:t>
            </a:r>
          </a:p>
          <a:p>
            <a:pPr lvl="0"/>
            <a:r>
              <a:rPr/>
              <a:t>Focus reviews on opportunities above the agreed propensity or expected-value cutoff.</a:t>
            </a:r>
          </a:p>
          <a:p>
            <a:pPr lvl="0"/>
            <a:r>
              <a:rPr/>
              <a:t>Align rep attention, manager escalation, and follow-up cadence to those thresholds.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Management view</a:t>
            </a:r>
          </a:p>
          <a:p>
            <a:pPr lvl="0"/>
            <a:r>
              <a:rPr b="1"/>
              <a:t>Forecast = sum of predicted values</a:t>
            </a:r>
            <a:r>
              <a:rPr/>
              <a:t> across the active pipeline.</a:t>
            </a:r>
          </a:p>
          <a:p>
            <a:pPr lvl="0"/>
            <a:r>
              <a:rPr/>
              <a:t>Leadership can compare forecast by region, route to market, owner, or priority tier.</a:t>
            </a:r>
          </a:p>
          <a:p>
            <a:pPr lvl="0"/>
            <a:r>
              <a:rPr/>
              <a:t>This connects daily triage decisions to portfolio-level revenue planning.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Conclusions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 for commercial decision-making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Prioritization is the highest-impact use case</a:t>
            </a:r>
          </a:p>
          <a:p>
            <a:pPr lvl="1"/>
            <a:r>
              <a:rPr/>
              <a:t>Win/loss model (AUROC 0.88) improves sales focus.</a:t>
            </a:r>
          </a:p>
          <a:p>
            <a:pPr lvl="1"/>
            <a:r>
              <a:rPr/>
              <a:t>Top 20% of opportunities → conversion ~22.7% → ~67%.</a:t>
            </a:r>
          </a:p>
          <a:p>
            <a:pPr lvl="0"/>
            <a:r>
              <a:rPr/>
              <a:t>Forecast at the portfolio level, not the deal level</a:t>
            </a:r>
          </a:p>
          <a:p>
            <a:pPr lvl="1"/>
            <a:r>
              <a:rPr/>
              <a:t>Amount model is not reliable per deal, but supports aggregate forecasting and planning.</a:t>
            </a:r>
          </a:p>
          <a:p>
            <a:pPr lvl="0"/>
            <a:r>
              <a:rPr/>
              <a:t>Expected value is the strongest prioritization lever</a:t>
            </a:r>
          </a:p>
          <a:p>
            <a:pPr lvl="1"/>
            <a:r>
              <a:rPr/>
              <a:t>Combines win propensity × deal size.</a:t>
            </a:r>
          </a:p>
          <a:p>
            <a:pPr lvl="1"/>
            <a:r>
              <a:rPr/>
              <a:t>Value is concentrated: ~44% in top 10%, ~68% in top 25%.</a:t>
            </a:r>
          </a:p>
          <a:p>
            <a:pPr lvl="0"/>
            <a:r>
              <a:rPr/>
              <a:t>Recommendation</a:t>
            </a:r>
          </a:p>
          <a:p>
            <a:pPr lvl="1"/>
            <a:r>
              <a:rPr/>
              <a:t>Pilot prioritization first (embed in CRM).</a:t>
            </a:r>
          </a:p>
          <a:p>
            <a:pPr lvl="1"/>
            <a:r>
              <a:rPr/>
              <a:t>Use forecasting for planning.</a:t>
            </a:r>
          </a:p>
          <a:p>
            <a:pPr lvl="1"/>
            <a:r>
              <a:rPr/>
              <a:t>Then combine into expected-value prioritization to guide focus and resource allocation.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Pilot, prove, scale: how to operationalize model-driven sales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Pilot deployment (4–6 weeks):</a:t>
            </a:r>
          </a:p>
          <a:p>
            <a:pPr lvl="1"/>
            <a:r>
              <a:rPr/>
              <a:t>Embed prioritization scores into CRM workflows</a:t>
            </a:r>
          </a:p>
          <a:p>
            <a:pPr lvl="1"/>
            <a:r>
              <a:rPr/>
              <a:t>Run A/B test vs. current sales process and measure lift in conversion and revenue</a:t>
            </a:r>
          </a:p>
          <a:p>
            <a:pPr lvl="0"/>
            <a:r>
              <a:rPr/>
              <a:t>Define operating model (after pilot early results):</a:t>
            </a:r>
          </a:p>
          <a:p>
            <a:pPr lvl="1"/>
            <a:r>
              <a:rPr/>
              <a:t>Incorporate funnel/client segmentation into the process</a:t>
            </a:r>
          </a:p>
          <a:p>
            <a:pPr lvl="1"/>
            <a:r>
              <a:rPr/>
              <a:t>Set clear thresholds and actions (e.g., top deciles = sales focus)</a:t>
            </a:r>
          </a:p>
          <a:p>
            <a:pPr lvl="1"/>
            <a:r>
              <a:rPr/>
              <a:t>Align sales forces with incentives and pipeline reviews to make sure model outputs are used effectively</a:t>
            </a:r>
          </a:p>
          <a:p>
            <a:pPr lvl="0"/>
            <a:r>
              <a:rPr/>
              <a:t>Monitor performance (starting after deployment):</a:t>
            </a:r>
          </a:p>
          <a:p>
            <a:pPr lvl="1"/>
            <a:r>
              <a:rPr/>
              <a:t>Track conversion lift, cycle time, and revenue per opportunity</a:t>
            </a:r>
          </a:p>
          <a:p>
            <a:pPr lvl="1"/>
            <a:r>
              <a:rPr/>
              <a:t>Continuously recalibrate thresholds and retrain models</a:t>
            </a:r>
          </a:p>
          <a:p>
            <a:pPr lvl="0"/>
            <a:r>
              <a:rPr/>
              <a:t>Scale and integrate (after pilot success):</a:t>
            </a:r>
          </a:p>
          <a:p>
            <a:pPr lvl="1"/>
            <a:r>
              <a:rPr/>
              <a:t>Extend to full pipeline and embed in forecasting cadence</a:t>
            </a:r>
          </a:p>
          <a:p>
            <a:pPr lvl="1"/>
            <a:r>
              <a:rPr/>
              <a:t>Incorporate into commercial planning and resource allocation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Questions, comments, and feedback are welcome!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Annex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Annex: classification CV leaderboard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Selected model in main deck: </a:t>
            </a:r>
            <a:r>
              <a:rPr b="1"/>
              <a:t>logit_binned_ohe_balanced_calibrated</a:t>
            </a:r>
            <a:r>
              <a:rPr/>
              <a:t>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Annex: regression CV leaderboard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Selected model in main deck: </a:t>
            </a:r>
            <a:r>
              <a:rPr b="1"/>
              <a:t>xgboost</a:t>
            </a:r>
            <a:r>
              <a:rPr/>
              <a:t>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Annex: calibration comparison for the selected classifier</a:t>
            </a:r>
          </a:p>
        </p:txBody>
      </p:sp>
      <p:pic>
        <p:nvPicPr>
          <p:cNvPr descr="assets/annex_calibration_comparis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The calibrated and non-calibrated variants have almost identical ROC / PR ranking performance, but calibration changes how raw probabilities line up with observed win rates.</a:t>
            </a:r>
          </a:p>
          <a:p>
            <a:pPr lvl="0"/>
            <a:r>
              <a:rPr/>
              <a:t>The calibrated curve tracks the 45-degree reference more closely through the middle probability range, which is the part used most often for thresholding and expected-value calculations.</a:t>
            </a:r>
          </a:p>
          <a:p>
            <a:pPr lvl="0"/>
            <a:r>
              <a:rPr/>
              <a:t>This is why the calibrated model is now the deployment candidate: the ranking stays strong, while the probabilities are more usable downstream.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Annex: hold-out classification report at the selected model’s optimal threshold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Threshold chosen on </a:t>
            </a:r>
            <a:r>
              <a:rPr b="1"/>
              <a:t>training out-of-fold predictions</a:t>
            </a:r>
            <a:r>
              <a:rPr/>
              <a:t> by maximizing </a:t>
            </a:r>
            <a:r>
              <a:rPr b="1"/>
              <a:t>F1</a:t>
            </a:r>
            <a:r>
              <a:rPr/>
              <a:t> for the selected model: </a:t>
            </a:r>
            <a:r>
              <a:rPr b="1"/>
              <a:t>31.4%</a:t>
            </a:r>
            <a:r>
              <a:rPr/>
              <a:t> predicted win probability.</a:t>
            </a:r>
          </a:p>
          <a:p>
            <a:pPr lvl="0" indent="0" marL="0">
              <a:buNone/>
            </a:pPr>
            <a:r>
              <a:rPr/>
              <a:t>Diagnostic note: the threshold is selected on train-side OOF predictions, then evaluated once on the untouched hold-out set shown here.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Annex: regression error by amount bin on the hold-out set</a:t>
            </a:r>
          </a:p>
        </p:txBody>
      </p:sp>
      <p:pic>
        <p:nvPicPr>
          <p:cNvPr descr="assets/annex_regression_error_bin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06500"/>
            <a:ext cx="4038600" cy="335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The comparison shows where model error changes most across deal-size bands, instead of averaging everything into one MAE figure.</a:t>
            </a:r>
          </a:p>
          <a:p>
            <a:pPr lvl="0"/>
            <a:r>
              <a:rPr b="1"/>
              <a:t>XGBoost</a:t>
            </a:r>
            <a:r>
              <a:rPr/>
              <a:t> is strongest on aggregate, but the transformed linear variants remain competitive in smaller bins.</a:t>
            </a:r>
          </a:p>
          <a:p>
            <a:pPr lvl="0"/>
            <a:r>
              <a:rPr/>
              <a:t>The log-transform and power-transform variants reduce relative error in lower-value bands, while absolute error still rises materially for the largest opportunities.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Annex: incremental revenue from effort reallocation on the hold-out 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Baseline conversion across the hold-out set: </a:t>
            </a:r>
            <a:r>
              <a:rPr b="1"/>
              <a:t>overall win rate = 22.7%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Expected-value ranking</a:t>
            </a:r>
            <a:r>
              <a:rPr/>
              <a:t> (</a:t>
            </a:r>
            <a:r>
              <a:rPr>
                <a:latin typeface="Courier"/>
              </a:rPr>
              <a:t>predicted win probability × realized amount</a:t>
            </a:r>
            <a:r>
              <a:rPr/>
              <a:t>)</a:t>
            </a:r>
          </a:p>
          <a:p>
            <a:pPr lvl="0" indent="0" marL="0">
              <a:buNone/>
            </a:pPr>
            <a:r>
              <a:rPr b="1"/>
              <a:t>Probability-only ranking</a:t>
            </a:r>
            <a:r>
              <a:rPr/>
              <a:t> (</a:t>
            </a:r>
            <a:r>
              <a:rPr>
                <a:latin typeface="Courier"/>
              </a:rPr>
              <a:t>y_proba</a:t>
            </a:r>
            <a:r>
              <a:rPr/>
              <a:t>)</a:t>
            </a:r>
          </a:p>
          <a:p>
            <a:pPr lvl="0"/>
            <a:r>
              <a:rPr b="1"/>
              <a:t>Top 10%</a:t>
            </a:r>
            <a:r>
              <a:rPr/>
              <a:t>: EV ranking leads by </a:t>
            </a:r>
            <a:r>
              <a:rPr b="1"/>
              <a:t>+8.6M</a:t>
            </a:r>
            <a:r>
              <a:rPr/>
              <a:t> incremental revenue at the base assumption (</a:t>
            </a:r>
            <a:r>
              <a:rPr>
                <a:latin typeface="Courier"/>
              </a:rPr>
              <a:t>λ = 0.3</a:t>
            </a:r>
            <a:r>
              <a:rPr/>
              <a:t>), because the top slice concentrates much more forecasted value even though its win rate is lower than the probability-only slice.</a:t>
            </a:r>
          </a:p>
          <a:p>
            <a:pPr lvl="0"/>
            <a:r>
              <a:rPr b="1"/>
              <a:t>Top 25%</a:t>
            </a:r>
            <a:r>
              <a:rPr/>
              <a:t>: EV ranking still leads by </a:t>
            </a:r>
            <a:r>
              <a:rPr b="1"/>
              <a:t>+5.3M</a:t>
            </a:r>
            <a:r>
              <a:rPr/>
              <a:t> at the base assumption, showing that forecasted amount continues to matter once the slice widens.</a:t>
            </a:r>
          </a:p>
          <a:p>
            <a:pPr lvl="0"/>
            <a:r>
              <a:rPr b="1"/>
              <a:t>Top 50%</a:t>
            </a:r>
            <a:r>
              <a:rPr/>
              <a:t>: EV ranking leads by </a:t>
            </a:r>
            <a:r>
              <a:rPr b="1"/>
              <a:t>+2.7M</a:t>
            </a:r>
            <a:r>
              <a:rPr/>
              <a:t> at the base assumption; the two strategies become much closer once coverage broadens.</a:t>
            </a:r>
          </a:p>
          <a:p>
            <a:pPr lvl="0" indent="0" marL="0">
              <a:buNone/>
            </a:pPr>
            <a:r>
              <a:rPr/>
              <a:t>Interpretation note: this is still a </a:t>
            </a:r>
            <a:r>
              <a:rPr b="1"/>
              <a:t>scenario-sizing exercise</a:t>
            </a:r>
            <a:r>
              <a:rPr/>
              <a:t>, but it is now closer to an operational story: ranking uses forecasted amount, and the intervention is modeled as an additive improvement in segment win rate rather than a multiplicative probability shock.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Annex: methodology behind the incremental revenue sizing 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Start from the </a:t>
            </a:r>
            <a:r>
              <a:rPr b="1"/>
              <a:t>hold-out test set</a:t>
            </a:r>
            <a:r>
              <a:rPr/>
              <a:t> and define the portfolio baseline as the overall observed win rate.</a:t>
            </a:r>
          </a:p>
          <a:p>
            <a:pPr lvl="0"/>
            <a:r>
              <a:rPr/>
              <a:t>Create two ranking rules:</a:t>
            </a:r>
          </a:p>
          <a:p>
            <a:pPr lvl="1"/>
            <a:r>
              <a:rPr b="1"/>
              <a:t>Expected-value ranking</a:t>
            </a:r>
            <a:r>
              <a:rPr/>
              <a:t> = predicted win probability × forecasted amount</a:t>
            </a:r>
          </a:p>
          <a:p>
            <a:pPr lvl="1"/>
            <a:r>
              <a:rPr b="1"/>
              <a:t>Probability-only ranking</a:t>
            </a:r>
            <a:r>
              <a:rPr/>
              <a:t> = predicted win probability</a:t>
            </a:r>
          </a:p>
          <a:p>
            <a:pPr lvl="0"/>
            <a:r>
              <a:rPr/>
              <a:t>For each cutoff (</a:t>
            </a:r>
            <a:r>
              <a:rPr b="1"/>
              <a:t>10%, 25%, 50%</a:t>
            </a:r>
            <a:r>
              <a:rPr/>
              <a:t>), keep only the top-ranked slice and measure:</a:t>
            </a:r>
          </a:p>
          <a:p>
            <a:pPr lvl="1"/>
            <a:r>
              <a:rPr/>
              <a:t>number of opportunities in the slice</a:t>
            </a:r>
          </a:p>
          <a:p>
            <a:pPr lvl="1"/>
            <a:r>
              <a:rPr/>
              <a:t>forecasted amount already sitting inside that slice</a:t>
            </a:r>
          </a:p>
          <a:p>
            <a:pPr lvl="1"/>
            <a:r>
              <a:rPr/>
              <a:t>observed conversion rate in that slice</a:t>
            </a:r>
          </a:p>
          <a:p>
            <a:pPr lvl="0"/>
            <a:r>
              <a:rPr/>
              <a:t>Compute the </a:t>
            </a:r>
            <a:r>
              <a:rPr b="1"/>
              <a:t>conversion lift vs the portfolio baseline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Translate that conversion lift into a revenue estimate by assuming sales action adds a </a:t>
            </a:r>
            <a:r>
              <a:rPr b="1"/>
              <a:t>win-rate bonus</a:t>
            </a:r>
            <a:r>
              <a:rPr/>
              <a:t> to the selected segment.</a:t>
            </a:r>
          </a:p>
          <a:p>
            <a:pPr lvl="0"/>
            <a:r>
              <a:rPr/>
              <a:t>The bonus is defined as a fraction of the observed conversion lift:</a:t>
            </a:r>
          </a:p>
          <a:p>
            <a:pPr lvl="1"/>
            <a:r>
              <a:rPr b="1"/>
              <a:t>conservative</a:t>
            </a:r>
            <a:r>
              <a:rPr/>
              <a:t>: recover </a:t>
            </a:r>
            <a:r>
              <a:rPr b="1"/>
              <a:t>20%</a:t>
            </a:r>
            <a:r>
              <a:rPr/>
              <a:t> of that advantage</a:t>
            </a:r>
          </a:p>
          <a:p>
            <a:pPr lvl="1"/>
            <a:r>
              <a:rPr b="1"/>
              <a:t>base</a:t>
            </a:r>
            <a:r>
              <a:rPr/>
              <a:t>: recover </a:t>
            </a:r>
            <a:r>
              <a:rPr b="1"/>
              <a:t>30%</a:t>
            </a:r>
          </a:p>
          <a:p>
            <a:pPr lvl="1"/>
            <a:r>
              <a:rPr b="1"/>
              <a:t>aggressive</a:t>
            </a:r>
            <a:r>
              <a:rPr/>
              <a:t>: recover </a:t>
            </a:r>
            <a:r>
              <a:rPr b="1"/>
              <a:t>40%</a:t>
            </a:r>
          </a:p>
          <a:p>
            <a:pPr lvl="0"/>
            <a:r>
              <a:rPr/>
              <a:t>Incremental revenue is then estimated as:</a:t>
            </a:r>
          </a:p>
          <a:p>
            <a:pPr lvl="1" indent="0" marL="342900">
              <a:buNone/>
            </a:pPr>
            <a:r>
              <a:rPr b="1"/>
              <a:t>forecasted amount inside the slice × win-rate bonus</a:t>
            </a:r>
          </a:p>
          <a:p>
            <a:pPr lvl="0"/>
            <a:r>
              <a:rPr/>
              <a:t>This is a </a:t>
            </a:r>
            <a:r>
              <a:rPr b="1"/>
              <a:t>sizing heuristic</a:t>
            </a:r>
            <a:r>
              <a:rPr/>
              <a:t>, not a causal estimate:</a:t>
            </a:r>
          </a:p>
          <a:p>
            <a:pPr lvl="1"/>
            <a:r>
              <a:rPr/>
              <a:t>it assumes sales effort can recover part of the observed conversion gap</a:t>
            </a:r>
          </a:p>
          <a:p>
            <a:pPr lvl="1"/>
            <a:r>
              <a:rPr/>
              <a:t>it uses hold-out forecasted amounts rather than realized future deal outcomes</a:t>
            </a:r>
          </a:p>
          <a:p>
            <a:pPr lvl="1"/>
            <a:r>
              <a:rPr/>
              <a:t>it is best read as a way to compare ranking policies under the same assumptions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MIB Cars Analysis</dc:title>
  <dc:creator>Strategic Analysis Group</dc:creator>
  <cp:keywords/>
  <dcterms:created xsi:type="dcterms:W3CDTF">2026-04-03T16:47:46Z</dcterms:created>
  <dcterms:modified xsi:type="dcterms:W3CDTF">2026-04-03T16:47:46Z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enter">
    <vt:lpwstr>False</vt:lpwstr>
  </property>
  <property fmtid="{D5CDD505-2E9C-101B-9397-08002B2CF9AE}" pid="6" name="header-includes">
    <vt:lpwstr/>
  </property>
  <property fmtid="{D5CDD505-2E9C-101B-9397-08002B2CF9AE}" pid="7" name="height">
    <vt:lpwstr>9in</vt:lpwstr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Commercial prioritization and forecasting from sales opportunity data</vt:lpwstr>
  </property>
  <property fmtid="{D5CDD505-2E9C-101B-9397-08002B2CF9AE}" pid="12" name="toc-title">
    <vt:lpwstr>Table of contents</vt:lpwstr>
  </property>
  <property fmtid="{D5CDD505-2E9C-101B-9397-08002B2CF9AE}" pid="13" name="width">
    <vt:lpwstr>16in</vt:lpwstr>
  </property>
</Properties>
</file>