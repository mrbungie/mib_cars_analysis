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6" Type="http://schemas.openxmlformats.org/officeDocument/2006/relationships/viewProps" Target="viewProps.xml" /><Relationship Id="rId5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8" Type="http://schemas.openxmlformats.org/officeDocument/2006/relationships/tableStyles" Target="tableStyles.xml" /><Relationship Id="rId5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8.png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MIB Cars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Commercial prioritization and forecasting from sales opportunity data</a:t>
            </a:r>
            <a:br/>
            <a:br/>
            <a:r>
              <a:rPr/>
              <a:t>Strategic Analysis Group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analysis examines an auto-parts sales opportunity pipeline, identifying structural inefficiencies (i.e. CRM input errors, lack of prioritization, and inaccurate forecasting) that drive a structurally low 22.7% conversion rate.</a:t>
            </a:r>
          </a:p>
          <a:p>
            <a:pPr lvl="0"/>
            <a:r>
              <a:rPr/>
              <a:t>We propose two models: a win/loss classifier (AUROC 0.88) for opportunity prioritization, and a regression model for deal sizing and aggregate forecasting (reliable at portfolio level, not per deal).</a:t>
            </a:r>
          </a:p>
          <a:p>
            <a:pPr lvl="0"/>
            <a:r>
              <a:rPr/>
              <a:t>Focusing on the top 20% of opportunities lifts conversion from 22.7% to ~67%; the top 10% captures ~44% of total pipeline value.</a:t>
            </a:r>
          </a:p>
          <a:p>
            <a:pPr lvl="0"/>
            <a:r>
              <a:rPr/>
              <a:t>We recommend embedding scores in the CRM at opportunity creation, piloting via A/B test, and setting clear thresholds to operationalize prioritization in sales workflows.</a:t>
            </a:r>
          </a:p>
          <a:p>
            <a:pPr lvl="0"/>
            <a:r>
              <a:rPr/>
              <a:t>We also simulate strategic levers such as pipeline optimization and salesforce adjustments to show how model-driven prioritization can improve commercial efficiency.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Business framing and process assumptions</a:t>
            </a:r>
          </a:p>
          <a:p>
            <a:pPr lvl="0" indent="-342900" marL="342900">
              <a:buAutoNum type="arabicPeriod"/>
            </a:pPr>
            <a:r>
              <a:rPr/>
              <a:t>Dataset and target overview</a:t>
            </a:r>
          </a:p>
          <a:p>
            <a:pPr lvl="0" indent="-342900" marL="342900">
              <a:buAutoNum type="arabicPeriod"/>
            </a:pPr>
            <a:r>
              <a:rPr/>
              <a:t>EDA findings that matter for prioritization and forecasting</a:t>
            </a:r>
          </a:p>
          <a:p>
            <a:pPr lvl="0" indent="-342900" marL="342900">
              <a:buAutoNum type="arabicPeriod"/>
            </a:pPr>
            <a:r>
              <a:rPr/>
              <a:t>Modelling approach and model outputs</a:t>
            </a:r>
          </a:p>
          <a:p>
            <a:pPr lvl="0" indent="-342900" marL="342900">
              <a:buAutoNum type="arabicPeriod"/>
            </a:pPr>
            <a:r>
              <a:rPr/>
              <a:t>Application simulations</a:t>
            </a:r>
          </a:p>
          <a:p>
            <a:pPr lvl="0" indent="-342900" marL="342900">
              <a:buAutoNum type="arabicPeriod"/>
            </a:pPr>
            <a:r>
              <a:rPr/>
              <a:t>Conclusions and next steps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Business framing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sales process is non-linear, and the data captures its current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The current sales process tracks auto-parts opportunities across both new leads and existing customers.</a:t>
            </a:r>
          </a:p>
          <a:p>
            <a:pPr lvl="0"/>
            <a:r>
              <a:rPr/>
              <a:t>Opportunities transition between the stages Data entry → Identified / Qualifying → Qualified / Validating, and Validated / Gaining Agreement → Closed (Win/Loss).</a:t>
            </a:r>
          </a:p>
          <a:p>
            <a:pPr lvl="1"/>
            <a:r>
              <a:rPr/>
              <a:t>Opportunities can move between stages in either direction, and they can also stall within a stage for extended periods.</a:t>
            </a:r>
          </a:p>
          <a:p>
            <a:pPr lvl="1"/>
            <a:r>
              <a:rPr/>
              <a:t>Each opportunity ultimately resolves as either a win or a loss.</a:t>
            </a:r>
          </a:p>
          <a:p>
            <a:pPr lvl="1"/>
            <a:r>
              <a:rPr/>
              <a:t>Sales teams maintain an estimated deal value, which is updated as the opportunity progresses.</a:t>
            </a:r>
          </a:p>
        </p:txBody>
      </p:sp>
      <p:pic>
        <p:nvPicPr>
          <p:cNvPr descr="assets/proces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784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value sits in a small share of opportunities making prioritization an important growth lever</a:t>
            </a:r>
          </a:p>
        </p:txBody>
      </p:sp>
      <p:pic>
        <p:nvPicPr>
          <p:cNvPr descr="assets/eda_amount_win_ra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65300"/>
            <a:ext cx="40386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The pipeline is high-volume but low-yield: only 22.7% of opportunities convert, meaning most effort is currently misallocated.</a:t>
            </a:r>
          </a:p>
          <a:p>
            <a:pPr lvl="0"/>
            <a:r>
              <a:rPr/>
              <a:t>Value is highly concentrated: the majority of opportunities are low-amount, but win rates increase materially with deal size, signaling where commercial focus should shift.</a:t>
            </a:r>
          </a:p>
          <a:p>
            <a:pPr lvl="0"/>
            <a:r>
              <a:rPr/>
              <a:t>This creates a clear opportunity: → Move from volume-driven selling to value-driven prioritization, combining win propensity + deal size.</a:t>
            </a:r>
          </a:p>
          <a:p>
            <a:pPr lvl="0"/>
            <a:r>
              <a:rPr/>
              <a:t>The implication is direct: → Not all opportunities should be pursued equally — targeting the right deals can lift conversion and revenue without increasing pipeline size.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Therefore, we propose two modelling use cases: prioritization and forecasting, plus additional data-driven commercial opportunities.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Selected for this project</a:t>
            </a:r>
          </a:p>
          <a:p>
            <a:pPr lvl="0"/>
            <a:r>
              <a:rPr b="1"/>
              <a:t>Process prioritization</a:t>
            </a:r>
            <a:r>
              <a:rPr/>
              <a:t>: rank opportunities by win propensity and support decisions on where sales effort should focus first.</a:t>
            </a:r>
          </a:p>
          <a:p>
            <a:pPr lvl="0"/>
            <a:r>
              <a:rPr b="1"/>
              <a:t>Opportunity sizing &amp; forecasting</a:t>
            </a:r>
            <a:r>
              <a:rPr/>
              <a:t>: estimate deal value and aggregate expected sales for planning, prioritization, and budget visibility.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opportunities identified in the data</a:t>
            </a:r>
          </a:p>
          <a:p>
            <a:pPr lvl="0"/>
            <a:r>
              <a:rPr b="1"/>
              <a:t>Channel optimization</a:t>
            </a:r>
            <a:r>
              <a:rPr/>
              <a:t>: test what-if scenarios around route-to-market and engagement model choices.</a:t>
            </a:r>
          </a:p>
          <a:p>
            <a:pPr lvl="0"/>
            <a:r>
              <a:rPr b="1"/>
              <a:t>Secondary market segmentation</a:t>
            </a:r>
            <a:r>
              <a:rPr/>
              <a:t>: create actionable commercial segments from predicted value and conversion potential.</a:t>
            </a:r>
          </a:p>
          <a:p>
            <a:pPr lvl="0"/>
            <a:r>
              <a:rPr b="1"/>
              <a:t>Early warning systems</a:t>
            </a:r>
            <a:r>
              <a:rPr/>
              <a:t>: flag opportunities that are likely to deteriorate or stall.</a:t>
            </a:r>
          </a:p>
          <a:p>
            <a:pPr lvl="0"/>
            <a:r>
              <a:rPr b="1"/>
              <a:t>Budget allocation</a:t>
            </a:r>
            <a:r>
              <a:rPr/>
              <a:t>: guide sales effort and product-focus decisions across segments, regions, and product lines.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data analysis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dataset was analyzed and prepared with the two use cases in mind, which shaped the EDA focus and modelling choices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Scale</a:t>
            </a:r>
            <a:r>
              <a:rPr/>
              <a:t>: 78,025 sales opportunities and </a:t>
            </a:r>
            <a:r>
              <a:rPr b="1"/>
              <a:t>19 variables</a:t>
            </a:r>
            <a:r>
              <a:rPr/>
              <a:t> like:</a:t>
            </a:r>
          </a:p>
          <a:p>
            <a:pPr lvl="1"/>
            <a:r>
              <a:rPr/>
              <a:t>at-start information: client size, opportunity type, product category, region, etc.</a:t>
            </a:r>
          </a:p>
          <a:p>
            <a:pPr lvl="1"/>
            <a:r>
              <a:rPr/>
              <a:t>sales process details: elapsed time, stage changes, stage ratios, etc.</a:t>
            </a:r>
          </a:p>
          <a:p>
            <a:pPr lvl="1"/>
            <a:r>
              <a:rPr/>
              <a:t>targets like amount and win/loss status.</a:t>
            </a:r>
          </a:p>
          <a:p>
            <a:pPr lvl="0"/>
            <a:r>
              <a:rPr/>
              <a:t>Validation checks flagged duplicates and process-consistency issues before modelling. Key preparation findings:</a:t>
            </a:r>
          </a:p>
          <a:p>
            <a:pPr lvl="1"/>
            <a:r>
              <a:rPr b="1"/>
              <a:t>196 duplicated opportunity IDs</a:t>
            </a:r>
            <a:r>
              <a:rPr/>
              <a:t> (removed)</a:t>
            </a:r>
          </a:p>
          <a:p>
            <a:pPr lvl="1"/>
            <a:r>
              <a:rPr b="1"/>
              <a:t>2047 zero amount opportunities</a:t>
            </a:r>
            <a:r>
              <a:rPr/>
              <a:t> (removed)</a:t>
            </a:r>
          </a:p>
          <a:p>
            <a:pPr lvl="1"/>
            <a:r>
              <a:rPr b="1"/>
              <a:t>12,921 rows</a:t>
            </a:r>
            <a:r>
              <a:rPr/>
              <a:t> where stage ratios do not sum closely to 1 (kept)</a:t>
            </a:r>
          </a:p>
          <a:p>
            <a:pPr lvl="1"/>
            <a:r>
              <a:rPr/>
              <a:t>Other problems were identified.</a:t>
            </a:r>
          </a:p>
          <a:p>
            <a:pPr lvl="0"/>
            <a:r>
              <a:rPr/>
              <a:t>For the modelling experiments shown here, the sample used </a:t>
            </a:r>
            <a:r>
              <a:rPr b="1"/>
              <a:t>75,819 eligible rows</a:t>
            </a:r>
            <a:r>
              <a:rPr/>
              <a:t> out of </a:t>
            </a:r>
            <a:r>
              <a:rPr b="1"/>
              <a:t>78,025 total rows</a:t>
            </a:r>
            <a:r>
              <a:rPr/>
              <a:t> with valid targets.</a:t>
            </a:r>
          </a:p>
        </p:txBody>
      </p:sp>
      <p:pic>
        <p:nvPicPr>
          <p:cNvPr descr="assets/number_of_proble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Problems identified in the data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Align coverage and service models to client size, focusing scalable playbooks on small clients and dedicated effort on high-value accounts.</a:t>
            </a:r>
          </a:p>
        </p:txBody>
      </p:sp>
      <p:pic>
        <p:nvPicPr>
          <p:cNvPr descr="assets/eda_client_segment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65300"/>
            <a:ext cx="40386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The portfolio is heavily concentrated in </a:t>
            </a:r>
            <a:r>
              <a:rPr b="1"/>
              <a:t>100K or less</a:t>
            </a:r>
            <a:r>
              <a:rPr/>
              <a:t> clients, so this segment should drive base operating playbooks and coverage models.</a:t>
            </a:r>
          </a:p>
          <a:p>
            <a:pPr lvl="0"/>
            <a:r>
              <a:rPr/>
              <a:t>Conversion is relatively similar across most size bands, which means client size is more useful for </a:t>
            </a:r>
            <a:r>
              <a:rPr b="1"/>
              <a:t>commercial treatment and value management</a:t>
            </a:r>
            <a:r>
              <a:rPr/>
              <a:t> than for win-rate targeting alone.</a:t>
            </a:r>
          </a:p>
          <a:p>
            <a:pPr lvl="0"/>
            <a:r>
              <a:rPr/>
              <a:t>Larger accounts still matter because deal economics improve materially with size, so client-size segmentation should inform account prioritization, service model, and sales effort allocation.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Treat acquisition and expansion as distinct growth engines, each with its own playbook and resource model.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(Re)Acquisition</a:t>
            </a:r>
            <a:r>
              <a:rPr/>
              <a:t> / no business in the past two years: 69,208 opportunities with a </a:t>
            </a:r>
            <a:r>
              <a:rPr b="1"/>
              <a:t>17.3%</a:t>
            </a:r>
            <a:r>
              <a:rPr/>
              <a:t> observed win rate.</a:t>
            </a:r>
          </a:p>
          <a:p>
            <a:pPr lvl="0"/>
            <a:r>
              <a:rPr b="1"/>
              <a:t>Engagement / upselling</a:t>
            </a:r>
            <a:r>
              <a:rPr/>
              <a:t>: 8,817 opportunities with a </a:t>
            </a:r>
            <a:r>
              <a:rPr b="1"/>
              <a:t>63.9%</a:t>
            </a:r>
            <a:r>
              <a:rPr/>
              <a:t> observed win rate.</a:t>
            </a:r>
          </a:p>
          <a:p>
            <a:pPr lvl="0"/>
            <a:r>
              <a:rPr/>
              <a:t>This is a practical first-layer funnel split for go-to-market operations because it separates low-history acquisition work from higher-propensity expansion opportunities.</a:t>
            </a:r>
          </a:p>
        </p:txBody>
      </p:sp>
      <p:pic>
        <p:nvPicPr>
          <p:cNvPr descr="assets/eda_two_phase_funn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27200"/>
            <a:ext cx="4038600" cy="233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differences are driven by product mix, not geography</a:t>
            </a:r>
          </a:p>
        </p:txBody>
      </p:sp>
      <p:pic>
        <p:nvPicPr>
          <p:cNvPr descr="assets/eda_distribution_by_type_subtype_reg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4038600" cy="2755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Region is not a strong driver of conversion or deal size</a:t>
            </a:r>
          </a:p>
          <a:p>
            <a:pPr lvl="0"/>
            <a:r>
              <a:rPr/>
              <a:t>Type and subtype drive meaningful variation in both outcomes</a:t>
            </a:r>
          </a:p>
          <a:p>
            <a:pPr lvl="0"/>
            <a:r>
              <a:rPr/>
              <a:t>Prioritization should be product-driven, not geography-driven</a:t>
            </a:r>
          </a:p>
          <a:p>
            <a:pPr lvl="1"/>
            <a:r>
              <a:rPr/>
              <a:t>Challenging experiments should be run because this may reflect historical sales focus rather than true underlying demand differences.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Eventually an automated IV ranking was ran to identify the strongest predictors for both win/loss and amount</a:t>
            </a:r>
          </a:p>
        </p:txBody>
      </p:sp>
      <p:pic>
        <p:nvPicPr>
          <p:cNvPr descr="assets/eda_iv_classific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assets/eda_iv_regress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98600"/>
            <a:ext cx="40386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left chart shows IVs against the </a:t>
            </a:r>
            <a:r>
              <a:rPr b="1"/>
              <a:t>win/loss target</a:t>
            </a:r>
            <a:r>
              <a:rPr/>
              <a:t>, while the right chart shows IVs against the </a:t>
            </a:r>
            <a:r>
              <a:rPr b="1"/>
              <a:t>amount target</a:t>
            </a:r>
            <a:r>
              <a:rPr/>
              <a:t>, using the full set of variables that enter the models.</a:t>
            </a:r>
          </a:p>
          <a:p>
            <a:pPr lvl="0"/>
            <a:r>
              <a:rPr/>
              <a:t>Process-time variables and stage-ratio features remain among the strongest signals for classification, while the amount target keeps a broader but still process-heavy IV profile.</a:t>
            </a:r>
          </a:p>
          <a:p>
            <a:pPr lvl="0" indent="0" marL="0">
              <a:buNone/>
            </a:pPr>
            <a:r>
              <a:rPr/>
              <a:t>IVs were calculated running a binning analysis over the training set based on the methodology explained in the next section.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Modelling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have two modelling setups in mind for different stages of the sales process but just the most complete one is shown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Static / pre-sales process model</a:t>
            </a:r>
          </a:p>
          <a:p>
            <a:pPr lvl="0"/>
            <a:r>
              <a:rPr/>
              <a:t>Used for </a:t>
            </a:r>
            <a:r>
              <a:rPr b="1"/>
              <a:t>early decisions</a:t>
            </a:r>
            <a:r>
              <a:rPr/>
              <a:t> at opportunity creation especially around prioritization and sizing.</a:t>
            </a:r>
          </a:p>
          <a:p>
            <a:pPr lvl="0"/>
            <a:r>
              <a:rPr/>
              <a:t>Uses only </a:t>
            </a:r>
            <a:r>
              <a:rPr b="1"/>
              <a:t>at-creation variables</a:t>
            </a:r>
            <a:r>
              <a:rPr/>
              <a:t>: product / route / region / client-size / past-revenue descriptors.</a:t>
            </a:r>
          </a:p>
          <a:p>
            <a:pPr lvl="0"/>
            <a:r>
              <a:rPr/>
              <a:t>Best for </a:t>
            </a:r>
            <a:r>
              <a:rPr b="1"/>
              <a:t>early triage</a:t>
            </a:r>
            <a:r>
              <a:rPr/>
              <a:t> before any stage history exists.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Dynamic / during sales process model</a:t>
            </a:r>
          </a:p>
          <a:p>
            <a:pPr lvl="0"/>
            <a:r>
              <a:rPr/>
              <a:t>Used for </a:t>
            </a:r>
            <a:r>
              <a:rPr b="1"/>
              <a:t>ongoing re-prioritization and re-sizing</a:t>
            </a:r>
            <a:r>
              <a:rPr/>
              <a:t> during the process.</a:t>
            </a:r>
          </a:p>
          <a:p>
            <a:pPr lvl="0"/>
            <a:r>
              <a:rPr/>
              <a:t>Uses the static variables </a:t>
            </a:r>
            <a:r>
              <a:rPr b="1"/>
              <a:t>plus process-state variables</a:t>
            </a:r>
            <a:r>
              <a:rPr/>
              <a:t>: elapsed time, stage changes, cumulative timing, and stage ratios.</a:t>
            </a:r>
          </a:p>
          <a:p>
            <a:pPr lvl="0"/>
            <a:r>
              <a:rPr b="1"/>
              <a:t>This is the setup used here.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setups would improve with </a:t>
            </a:r>
            <a:r>
              <a:rPr b="1"/>
              <a:t>better historical covariates</a:t>
            </a:r>
            <a:r>
              <a:rPr/>
              <a:t>, especially prior outcomes from similar process runs.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both classification and regression, we used an stratified train/test split to ensure realistic 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Train / test split</a:t>
            </a:r>
            <a:r>
              <a:rPr/>
              <a:t>: </a:t>
            </a:r>
            <a:r>
              <a:rPr b="1"/>
              <a:t>70% / 30%</a:t>
            </a:r>
          </a:p>
          <a:p>
            <a:pPr lvl="1"/>
            <a:r>
              <a:rPr/>
              <a:t>Train: </a:t>
            </a:r>
            <a:r>
              <a:rPr b="1"/>
              <a:t>53,073</a:t>
            </a:r>
            <a:r>
              <a:rPr/>
              <a:t> rows</a:t>
            </a:r>
          </a:p>
          <a:p>
            <a:pPr lvl="1"/>
            <a:r>
              <a:rPr/>
              <a:t>Test: </a:t>
            </a:r>
            <a:r>
              <a:rPr b="1"/>
              <a:t>22,746</a:t>
            </a:r>
            <a:r>
              <a:rPr/>
              <a:t> rows</a:t>
            </a:r>
          </a:p>
          <a:p>
            <a:pPr lvl="0"/>
            <a:r>
              <a:rPr/>
              <a:t>The split was </a:t>
            </a:r>
            <a:r>
              <a:rPr b="1"/>
              <a:t>stratified jointly</a:t>
            </a:r>
            <a:r>
              <a:rPr/>
              <a:t> on:</a:t>
            </a:r>
          </a:p>
          <a:p>
            <a:pPr lvl="1"/>
            <a:r>
              <a:rPr/>
              <a:t>win/loss target</a:t>
            </a:r>
          </a:p>
          <a:p>
            <a:pPr lvl="1"/>
            <a:r>
              <a:rPr/>
              <a:t>amount buckets</a:t>
            </a:r>
          </a:p>
          <a:p>
            <a:pPr lvl="0"/>
            <a:r>
              <a:rPr/>
              <a:t>This keeps both outcome balance and deal-size mix stable across train and test.</a:t>
            </a:r>
          </a:p>
          <a:p>
            <a:pPr lvl="0"/>
            <a:r>
              <a:rPr/>
              <a:t>In the final models, regression uses standardized numeric inputs, while the selected logistic classifier uses supervised binning plus one-hot encoding.</a:t>
            </a:r>
          </a:p>
        </p:txBody>
      </p:sp>
      <p:pic>
        <p:nvPicPr>
          <p:cNvPr descr="assets/model_split_treem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Prioritization classification model enables immediate and precise reallocation of sales effort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Target: </a:t>
            </a:r>
            <a:r>
              <a:rPr b="1"/>
              <a:t>Opportunity Result</a:t>
            </a:r>
            <a:r>
              <a:rPr/>
              <a:t>.</a:t>
            </a:r>
          </a:p>
          <a:p>
            <a:pPr lvl="0"/>
            <a:r>
              <a:rPr/>
              <a:t>Business use: </a:t>
            </a:r>
            <a:r>
              <a:rPr b="1"/>
              <a:t>process prioritization</a:t>
            </a:r>
            <a:r>
              <a:rPr/>
              <a:t> and ranking the pipeline by win propensity.</a:t>
            </a:r>
          </a:p>
          <a:p>
            <a:pPr lvl="1"/>
            <a:r>
              <a:rPr/>
              <a:t>Therefore we focused on ranking metrics such as ROC AUC and PR AUC.</a:t>
            </a:r>
          </a:p>
          <a:p>
            <a:pPr lvl="0"/>
            <a:r>
              <a:rPr/>
              <a:t>We used all the variables except for the amount target and deal size.</a:t>
            </a:r>
          </a:p>
          <a:p>
            <a:pPr lvl="0"/>
            <a:r>
              <a:rPr/>
              <a:t>Selected final logistic model: </a:t>
            </a:r>
            <a:r>
              <a:rPr b="1"/>
              <a:t>Calibrated Logistic Regression over supervisedly binned and one-hot encoded features with balanced class weights</a:t>
            </a:r>
            <a:r>
              <a:rPr/>
              <a:t> (</a:t>
            </a:r>
            <a:r>
              <a:rPr>
                <a:latin typeface="Courier"/>
              </a:rPr>
              <a:t>logit_binned_ohe_balanced_calibrated</a:t>
            </a:r>
            <a:r>
              <a:rPr/>
              <a:t>).</a:t>
            </a:r>
          </a:p>
          <a:p>
            <a:pPr lvl="0"/>
            <a:r>
              <a:rPr/>
              <a:t>This model has strong performance (AUROC 0.88, Accuracy 0.825 @ 31.4% threshold) versus the baselines (AUROC 0.5, Accuracy 0.773 @ base win rate for all false classifier).</a:t>
            </a:r>
          </a:p>
        </p:txBody>
      </p:sp>
      <p:pic>
        <p:nvPicPr>
          <p:cNvPr descr="assets/classification_importa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562100"/>
            <a:ext cx="4038600" cy="265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did not use the higher-scoring tree-based variants because we thought the marginal performance lift did not justify the loss in interpretability for this use case.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Prioritization classification model enables immediate and precise reallocation of sales effort (cont., with performance metrics)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ran a battery of metrics on the selected model considering:</a:t>
            </a:r>
          </a:p>
          <a:p>
            <a:pPr lvl="0"/>
            <a:r>
              <a:rPr/>
              <a:t>Best threshold for the selected model = </a:t>
            </a:r>
            <a:r>
              <a:rPr b="1"/>
              <a:t>31.4%</a:t>
            </a:r>
            <a:r>
              <a:rPr/>
              <a:t>, chosen on </a:t>
            </a:r>
            <a:r>
              <a:rPr b="1"/>
              <a:t>train out-of-fold predictions</a:t>
            </a:r>
            <a:r>
              <a:rPr/>
              <a:t>.</a:t>
            </a:r>
          </a:p>
          <a:p>
            <a:pPr lvl="0"/>
            <a:r>
              <a:rPr/>
              <a:t>Baselines are computed at the observed </a:t>
            </a:r>
            <a:r>
              <a:rPr b="1"/>
              <a:t>base win rate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following table shows the selected model’s performance on both CV and held-out test, compared to random and simple baselines:</a:t>
            </a:r>
          </a:p>
        </p:txBody>
      </p:sp>
      <p:pic>
        <p:nvPicPr>
          <p:cNvPr descr="assets/classification_roc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562100"/>
            <a:ext cx="40386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annex contains more details about model selection, calibration, threshold selection, and the full classification report at the selected threshold.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amount model for per-opportunity sizing and ranking, not deal-level precision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Target: </a:t>
            </a:r>
            <a:r>
              <a:rPr b="1"/>
              <a:t>Opportunity Amount USD</a:t>
            </a:r>
            <a:r>
              <a:rPr/>
              <a:t>.</a:t>
            </a:r>
          </a:p>
          <a:p>
            <a:pPr lvl="0"/>
            <a:r>
              <a:rPr/>
              <a:t>Business use: </a:t>
            </a:r>
            <a:r>
              <a:rPr b="1"/>
              <a:t>sizing and directional forecasting</a:t>
            </a:r>
            <a:r>
              <a:rPr/>
              <a:t>.</a:t>
            </a:r>
          </a:p>
          <a:p>
            <a:pPr lvl="1"/>
            <a:r>
              <a:rPr/>
              <a:t>Therefore we focused on error metrics such as MAE and especially MAPE since it is scale-invariant and better captures the relative error across the wide deal-size distribution.</a:t>
            </a:r>
          </a:p>
          <a:p>
            <a:pPr lvl="0"/>
            <a:r>
              <a:rPr/>
              <a:t>We used all the variables except for the win/loss target and the deal-size descriptors.</a:t>
            </a:r>
          </a:p>
          <a:p>
            <a:pPr lvl="0"/>
            <a:r>
              <a:rPr/>
              <a:t>Selected final regression model: </a:t>
            </a:r>
            <a:r>
              <a:rPr b="1"/>
              <a:t>Box-Cox transformed XGBoost regressor</a:t>
            </a:r>
            <a:r>
              <a:rPr/>
              <a:t> (</a:t>
            </a:r>
            <a:r>
              <a:rPr>
                <a:latin typeface="Courier"/>
              </a:rPr>
              <a:t>xgboost_boxcox</a:t>
            </a:r>
            <a:r>
              <a:rPr/>
              <a:t>), selected by lowest CV Median APE.</a:t>
            </a:r>
          </a:p>
          <a:p>
            <a:pPr lvl="0"/>
            <a:r>
              <a:rPr/>
              <a:t>The model beats simple baselines on MAPE and MAE, </a:t>
            </a:r>
            <a:r>
              <a:rPr b="1"/>
              <a:t>but with R² ≈ 0.06, MAE ≈ 65k USD, and Median APE ≈ 62%</a:t>
            </a:r>
            <a:r>
              <a:rPr/>
              <a:t>, deal-level precision remains weak, so the best use case is for directional sizing and ranking rather than exact deal-level forecasts.</a:t>
            </a:r>
          </a:p>
        </p:txBody>
      </p:sp>
      <p:pic>
        <p:nvPicPr>
          <p:cNvPr descr="assets/regression_importa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562100"/>
            <a:ext cx="4038600" cy="265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amount model for per-opportunity sizing and ranking, not deal-level precision (cont., with performance metrics)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ran a battery of metrics on the selected model and the baselines. The following table shows the selected model’s performance on both CV and held-out test, compared to random and simple baselines:</a:t>
            </a:r>
          </a:p>
        </p:txBody>
      </p:sp>
      <p:pic>
        <p:nvPicPr>
          <p:cNvPr descr="assets/sim_forecasti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510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annex contains more details about model selection, and per bin performance metrics.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Applications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following simulations are subject to constraints and are intended as a demonstration of potential business uses and impacts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 true pre-process static model is shown here</a:t>
            </a:r>
            <a:r>
              <a:rPr/>
              <a:t>: due to time constraints, current models used in the simulation use evolving lifecycle features; an early-stage model is still needed.</a:t>
            </a:r>
          </a:p>
          <a:p>
            <a:pPr lvl="0"/>
            <a:r>
              <a:rPr b="1"/>
              <a:t>Potentially relevant covariates are missing</a:t>
            </a:r>
            <a:r>
              <a:rPr/>
              <a:t>: the dataset lacks important drivers such as richer account history, rep behavior, pricing context, and external market conditions.</a:t>
            </a:r>
          </a:p>
          <a:p>
            <a:pPr lvl="0"/>
            <a:r>
              <a:rPr b="1"/>
              <a:t>Snapshot data limits process interpretation</a:t>
            </a:r>
            <a:r>
              <a:rPr/>
              <a:t>: the dataset reflects a single recorded state, without full event history or detailed timing of interactions.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Simulations are based on held-out observational predictions</a:t>
            </a:r>
            <a:r>
              <a:rPr/>
              <a:t>, results are based on held-out predictions, so they are weaker than an actual backtest and/or experiment and they cannot capture the full causal impact of acting on model outputs.</a:t>
            </a:r>
          </a:p>
          <a:p>
            <a:pPr lvl="0"/>
            <a:r>
              <a:rPr b="1"/>
              <a:t>Missing business context</a:t>
            </a:r>
            <a:r>
              <a:rPr/>
              <a:t>: factors like sales capacity, operational constraints, and CRM integration are not missing and we’re not able to consult them to business stakeholders, affecting real-world applicability.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Tripling conversion is achievable by focusing on the top 20% of opportunities, without increasing pipeline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Sales effort is currently spread across low-probability deals → concentrating on top deciles can triple conversion efficiency.</a:t>
            </a:r>
          </a:p>
          <a:p>
            <a:pPr lvl="1"/>
            <a:r>
              <a:rPr/>
              <a:t>Top decile: 3.52× lift.</a:t>
            </a:r>
          </a:p>
          <a:p>
            <a:pPr lvl="1"/>
            <a:r>
              <a:rPr/>
              <a:t>Ninth decile: 2.38× lift.</a:t>
            </a:r>
          </a:p>
          <a:p>
            <a:pPr lvl="1"/>
            <a:r>
              <a:rPr/>
              <a:t>Eight decile: 1.66× lift.</a:t>
            </a:r>
          </a:p>
          <a:p>
            <a:pPr lvl="0"/>
            <a:r>
              <a:rPr/>
              <a:t>We propose to automatically embed this in the CRM at opportunity creation to prioritize high-propensity deals (e.g. top 1-2 deciles) and set clear thresholds for pipeline reviews and resource allocation.</a:t>
            </a:r>
          </a:p>
          <a:p>
            <a:pPr lvl="0" indent="0" marL="0">
              <a:buNone/>
            </a:pPr>
            <a:r>
              <a:rPr/>
              <a:t>This simulation is based on held-out test-set predictions.</a:t>
            </a:r>
          </a:p>
        </p:txBody>
      </p:sp>
      <p:pic>
        <p:nvPicPr>
          <p:cNvPr descr="assets/sim_prioritiz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383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amount model for directional sizing and ranking, not committed aggregate forecasting</a:t>
            </a:r>
          </a:p>
        </p:txBody>
      </p:sp>
      <p:pic>
        <p:nvPicPr>
          <p:cNvPr descr="assets/sim_forecasti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510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Model is more useful for relative sizing than for exact portfolio totals, which is the tradeoff from selecting by Median APE.</a:t>
            </a:r>
          </a:p>
          <a:p>
            <a:pPr lvl="1"/>
            <a:r>
              <a:rPr/>
              <a:t>Aggregate actual amount: </a:t>
            </a:r>
            <a:r>
              <a:rPr b="1"/>
              <a:t>2.138B USD</a:t>
            </a:r>
            <a:r>
              <a:rPr/>
              <a:t> on the held-out test set.</a:t>
            </a:r>
          </a:p>
          <a:p>
            <a:pPr lvl="1"/>
            <a:r>
              <a:rPr/>
              <a:t>Aggregate predicted amount: </a:t>
            </a:r>
            <a:r>
              <a:rPr b="1"/>
              <a:t>1.309B USD</a:t>
            </a:r>
            <a:r>
              <a:rPr/>
              <a:t> on the held-out test set.</a:t>
            </a:r>
          </a:p>
          <a:p>
            <a:pPr lvl="1"/>
            <a:r>
              <a:rPr/>
              <a:t>Mean absolute error per opportunity: </a:t>
            </a:r>
            <a:r>
              <a:rPr b="1"/>
              <a:t>65.0k USD</a:t>
            </a:r>
            <a:r>
              <a:rPr/>
              <a:t>.</a:t>
            </a:r>
          </a:p>
          <a:p>
            <a:pPr lvl="0"/>
            <a:r>
              <a:rPr/>
              <a:t>We propose using this prediction as a sizing input for prioritization and scenario analysis, but not as a committed portfolio forecast without a separate bias-correction step.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simulation is based on held-out test-set predictions. Previous simulations with linear regression showed almost non-existant aggregate error but much worse directional ranking, which is why we selected the XGBoost Box-Cox model for this use case.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Concentration (~45% value capture at top 10%) makes expected-value prioritization a key revenue lever</a:t>
            </a:r>
          </a:p>
        </p:txBody>
      </p:sp>
      <p:pic>
        <p:nvPicPr>
          <p:cNvPr descr="assets/sim_expected_value_thresho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82700"/>
            <a:ext cx="4038600" cy="320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Rank the pipeline using expected value (E[Amount] × P(Win)), not just propensity especially under limited sales capacity.</a:t>
            </a:r>
          </a:p>
          <a:p>
            <a:pPr lvl="1"/>
            <a:r>
              <a:rPr/>
              <a:t>At top 10%, expected-value ranking captures 45.3% of won revenue vs 34.8% with propensity-only.</a:t>
            </a:r>
          </a:p>
          <a:p>
            <a:pPr lvl="1"/>
            <a:r>
              <a:rPr/>
              <a:t>Because the selected amount model under-forecasts the total portfolio, this expected-value ranking should be read as a directional prioritization tool rather than a revenue commitment.</a:t>
            </a:r>
          </a:p>
          <a:p>
            <a:pPr lvl="0"/>
            <a:r>
              <a:rPr/>
              <a:t>We propose to set clear thresholds (e.g., top 10% = high priority) and embed in the CRM to guide sales focus with a more economically relevant ranking than win propensity alone.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simulation is based on held-out test-set predictions. This analysis assumes that the opportunity amount is actually related to the final deal amount, which is not necessarily the case.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model outputs to work in the CRM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Operational flow</a:t>
            </a:r>
          </a:p>
          <a:p>
            <a:pPr lvl="0" indent="0" marL="0">
              <a:buNone/>
            </a:pPr>
            <a:r>
              <a:rPr b="1"/>
              <a:t>Opportunity created</a:t>
            </a:r>
            <a:r>
              <a:rPr/>
              <a:t> → </a:t>
            </a:r>
            <a:r>
              <a:rPr b="1"/>
              <a:t>score + expected value generated</a:t>
            </a:r>
          </a:p>
          <a:p>
            <a:pPr lvl="0"/>
            <a:r>
              <a:rPr/>
              <a:t>As soon as a new opportunity enters the CRM, the workflow generates:</a:t>
            </a:r>
          </a:p>
          <a:p>
            <a:pPr lvl="1"/>
            <a:r>
              <a:rPr b="1"/>
              <a:t>win-propensity score</a:t>
            </a:r>
          </a:p>
          <a:p>
            <a:pPr lvl="1"/>
            <a:r>
              <a:rPr b="1"/>
              <a:t>predicted amount</a:t>
            </a:r>
          </a:p>
          <a:p>
            <a:pPr lvl="1"/>
            <a:r>
              <a:rPr b="1"/>
              <a:t>expected value = E[Amount] × P(Win)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CRM displays</a:t>
            </a:r>
          </a:p>
          <a:p>
            <a:pPr lvl="0"/>
            <a:r>
              <a:rPr b="1"/>
              <a:t>Priority tier</a:t>
            </a:r>
            <a:r>
              <a:rPr/>
              <a:t>: Top 10%, Top 25%, Top 50%, etc.</a:t>
            </a:r>
          </a:p>
          <a:p>
            <a:pPr lvl="0"/>
            <a:r>
              <a:rPr b="1"/>
              <a:t>Suggested action</a:t>
            </a:r>
            <a:r>
              <a:rPr/>
              <a:t>: focus / monitor / deprioritize</a:t>
            </a:r>
          </a:p>
          <a:p>
            <a:pPr lvl="0"/>
            <a:r>
              <a:rPr/>
              <a:t>This gives frontline teams a simple operating signal without exposing model internals.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Weekly pipeline reviews</a:t>
            </a:r>
          </a:p>
          <a:p>
            <a:pPr lvl="0"/>
            <a:r>
              <a:rPr/>
              <a:t>Review only opportunities above agreed propensity or expected-value thresholds.</a:t>
            </a:r>
          </a:p>
          <a:p>
            <a:pPr lvl="0"/>
            <a:r>
              <a:rPr/>
              <a:t>Use those cutoffs to focus rep attention, escalation, and follow-up.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view</a:t>
            </a:r>
          </a:p>
          <a:p>
            <a:pPr lvl="0"/>
            <a:r>
              <a:rPr b="1"/>
              <a:t>Directional forecast = sum of predicted values</a:t>
            </a:r>
            <a:r>
              <a:rPr/>
              <a:t> across the active pipeline.</a:t>
            </a:r>
          </a:p>
          <a:p>
            <a:pPr lvl="0"/>
            <a:r>
              <a:rPr/>
              <a:t>Management can compare it by region, route to market, owner, or priority tier.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tactical use of model outputs to commercial strategy</a:t>
            </a:r>
          </a:p>
        </p:txBody>
      </p:sp>
      <p:pic>
        <p:nvPicPr>
          <p:cNvPr descr="assets/strategic_lever_focus_summar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Focus the team:</a:t>
            </a:r>
            <a:r>
              <a:rPr/>
              <a:t> Assuming higher effort on top-ranked opportunities improves conversion, we might achieve better results per deal. Best simulated point is </a:t>
            </a:r>
            <a:r>
              <a:rPr b="1"/>
              <a:t>top ~55%</a:t>
            </a:r>
            <a:r>
              <a:rPr/>
              <a:t> of the ranked pipeline, reaching </a:t>
            </a:r>
            <a:r>
              <a:rPr b="1"/>
              <a:t>$446M</a:t>
            </a:r>
            <a:r>
              <a:rPr/>
              <a:t> in revenue, or </a:t>
            </a:r>
            <a:r>
              <a:rPr b="1"/>
              <a:t>+$61M vs. baseline</a:t>
            </a:r>
            <a:r>
              <a:rPr/>
              <a:t>.</a:t>
            </a:r>
          </a:p>
          <a:p>
            <a:pPr lvl="0"/>
            <a:r>
              <a:rPr b="1"/>
              <a:t>Optimize salesforce size:</a:t>
            </a:r>
            <a:r>
              <a:rPr/>
              <a:t> With better prioritization, we might achieve higher efficiency. Best simulated point is </a:t>
            </a:r>
            <a:r>
              <a:rPr b="1"/>
              <a:t>168 reps</a:t>
            </a:r>
            <a:r>
              <a:rPr/>
              <a:t>, retaining </a:t>
            </a:r>
            <a:r>
              <a:rPr b="1"/>
              <a:t>$380M</a:t>
            </a:r>
            <a:r>
              <a:rPr/>
              <a:t> of revenue (98.8%) and improving net margin by </a:t>
            </a:r>
            <a:r>
              <a:rPr b="1"/>
              <a:t>+$6M</a:t>
            </a:r>
            <a:r>
              <a:rPr/>
              <a:t> vs. full staffing.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simulations use held-out test-set predictions. Lever 1 assumes a focus-gain multiplier that decays from λ_max = 1.5× at the smallest slice to 1.0× at the full pipeline; Lever 2 uses $120K OTE as the label, $180K fully-loaded cost per rep in the economics and assumes a rep can do 100 opportunities from the holdout set.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 for commercial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Prioritization is the highest-impact use case</a:t>
            </a:r>
          </a:p>
          <a:p>
            <a:pPr lvl="1"/>
            <a:r>
              <a:rPr/>
              <a:t>Win/loss model (AUROC 0.88) improves sales focus.</a:t>
            </a:r>
          </a:p>
          <a:p>
            <a:pPr lvl="1"/>
            <a:r>
              <a:rPr/>
              <a:t>Top 20% of opportunities → conversion ~22.7% → ~67%.</a:t>
            </a:r>
          </a:p>
          <a:p>
            <a:pPr lvl="0"/>
            <a:r>
              <a:rPr/>
              <a:t>Use the amount model as a directional sizing layer, not as a committed forecast</a:t>
            </a:r>
          </a:p>
          <a:p>
            <a:pPr lvl="1"/>
            <a:r>
              <a:rPr/>
              <a:t>Amount model is not reliable per deal, and it under-forecasts the held-out portfolio by roughly 39%, so it needs bias correction before forecast use.</a:t>
            </a:r>
          </a:p>
          <a:p>
            <a:pPr lvl="0"/>
            <a:r>
              <a:rPr/>
              <a:t>Expected value is the strongest prioritization lever</a:t>
            </a:r>
          </a:p>
          <a:p>
            <a:pPr lvl="1"/>
            <a:r>
              <a:rPr/>
              <a:t>Combines win propensity × deal size.</a:t>
            </a:r>
          </a:p>
          <a:p>
            <a:pPr lvl="1"/>
            <a:r>
              <a:rPr/>
              <a:t>Value is concentrated: ~44% in top 10%, ~68% in top 25%.</a:t>
            </a:r>
          </a:p>
          <a:p>
            <a:pPr lvl="0"/>
            <a:r>
              <a:rPr/>
              <a:t>Recommendation</a:t>
            </a:r>
          </a:p>
          <a:p>
            <a:pPr lvl="1"/>
            <a:r>
              <a:rPr/>
              <a:t>Pilot prioritization first (embed in CRM).</a:t>
            </a:r>
          </a:p>
          <a:p>
            <a:pPr lvl="1"/>
            <a:r>
              <a:rPr/>
              <a:t>Use the amount model for sizing and ranking first.</a:t>
            </a:r>
          </a:p>
          <a:p>
            <a:pPr lvl="1"/>
            <a:r>
              <a:rPr/>
              <a:t>Then combine into expected-value prioritization to guide focus and resource allocation.</a:t>
            </a:r>
          </a:p>
          <a:p>
            <a:pPr lvl="1"/>
            <a:r>
              <a:rPr/>
              <a:t>Post-pilot, consider strategic levers such as pipeline optimization and salesforce adjustments to improve commercial efficiency.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steps: how to operationalize model-driven sales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Pilot deployment (4–6 weeks):</a:t>
            </a:r>
          </a:p>
          <a:p>
            <a:pPr lvl="1"/>
            <a:r>
              <a:rPr/>
              <a:t>Embed prioritization scores into CRM workflows</a:t>
            </a:r>
          </a:p>
          <a:p>
            <a:pPr lvl="1"/>
            <a:r>
              <a:rPr/>
              <a:t>Run A/B test vs. current sales process and measure lift in conversion and revenue</a:t>
            </a:r>
          </a:p>
          <a:p>
            <a:pPr lvl="0"/>
            <a:r>
              <a:rPr/>
              <a:t>Define operating model (after pilot early results):</a:t>
            </a:r>
          </a:p>
          <a:p>
            <a:pPr lvl="1"/>
            <a:r>
              <a:rPr/>
              <a:t>Incorporate funnel/client segmentation into the process</a:t>
            </a:r>
          </a:p>
          <a:p>
            <a:pPr lvl="1"/>
            <a:r>
              <a:rPr/>
              <a:t>Potentially include product-level segmentation if it makes sense.</a:t>
            </a:r>
          </a:p>
          <a:p>
            <a:pPr lvl="1"/>
            <a:r>
              <a:rPr/>
              <a:t>Set clear thresholds and actions (e.g., top deciles = sales focus)</a:t>
            </a:r>
          </a:p>
          <a:p>
            <a:pPr lvl="1"/>
            <a:r>
              <a:rPr/>
              <a:t>Align sales forces with incentives and pipeline reviews to make sure model outputs are used effectively</a:t>
            </a:r>
          </a:p>
          <a:p>
            <a:pPr lvl="0"/>
            <a:r>
              <a:rPr/>
              <a:t>Monitor performance (starting after deployment):</a:t>
            </a:r>
          </a:p>
          <a:p>
            <a:pPr lvl="1"/>
            <a:r>
              <a:rPr/>
              <a:t>Track conversion lift, cycle time, and revenue per opportunity</a:t>
            </a:r>
          </a:p>
          <a:p>
            <a:pPr lvl="1"/>
            <a:r>
              <a:rPr/>
              <a:t>Continuously recalibrate thresholds and retrain models</a:t>
            </a:r>
          </a:p>
          <a:p>
            <a:pPr lvl="0"/>
            <a:r>
              <a:rPr/>
              <a:t>Scale and integrate (after pilot success):</a:t>
            </a:r>
          </a:p>
          <a:p>
            <a:pPr lvl="1"/>
            <a:r>
              <a:rPr/>
              <a:t>Extend to full pipeline and embed in forecasting cadence</a:t>
            </a:r>
          </a:p>
          <a:p>
            <a:pPr lvl="1"/>
            <a:r>
              <a:rPr/>
              <a:t>Incorporate into commercial planning and resource allocation</a:t>
            </a:r>
          </a:p>
          <a:p>
            <a:pPr lvl="1"/>
            <a:r>
              <a:rPr/>
              <a:t>Explore applying strategic levers such as pipeline optimization and salesforce adjustments based on model insights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Questions, comments, and feedback are welcome!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Annex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Annex: classification CV leaderboard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Selected model in main deck: </a:t>
            </a:r>
            <a:r>
              <a:rPr b="1"/>
              <a:t>logit_binned_ohe_balanced_calibrated</a:t>
            </a:r>
            <a:r>
              <a:rPr/>
              <a:t>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Annex: how to read IV charts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Information Value (IV)</a:t>
            </a:r>
            <a:r>
              <a:rPr/>
              <a:t> is a score used to rank how much predictive signal a variable carries against a target.</a:t>
            </a:r>
          </a:p>
          <a:p>
            <a:pPr lvl="0"/>
            <a:r>
              <a:rPr/>
              <a:t>In this deck:</a:t>
            </a:r>
          </a:p>
          <a:p>
            <a:pPr lvl="1"/>
            <a:r>
              <a:rPr b="1"/>
              <a:t>left IV chart</a:t>
            </a:r>
            <a:r>
              <a:rPr/>
              <a:t> = signal against </a:t>
            </a:r>
            <a:r>
              <a:rPr b="1"/>
              <a:t>win / loss</a:t>
            </a:r>
          </a:p>
          <a:p>
            <a:pPr lvl="1"/>
            <a:r>
              <a:rPr b="1"/>
              <a:t>right IV chart</a:t>
            </a:r>
            <a:r>
              <a:rPr/>
              <a:t> = signal against </a:t>
            </a:r>
            <a:r>
              <a:rPr b="1"/>
              <a:t>amount</a:t>
            </a:r>
          </a:p>
          <a:p>
            <a:pPr lvl="0"/>
            <a:r>
              <a:rPr b="1"/>
              <a:t>Colors</a:t>
            </a:r>
            <a:r>
              <a:rPr/>
              <a:t> add direction, because IV itself is only a strength score:</a:t>
            </a:r>
          </a:p>
          <a:p>
            <a:pPr lvl="1"/>
            <a:r>
              <a:rPr b="1"/>
              <a:t>green</a:t>
            </a:r>
            <a:r>
              <a:rPr/>
              <a:t> = increasing relationship</a:t>
            </a:r>
          </a:p>
          <a:p>
            <a:pPr lvl="1"/>
            <a:r>
              <a:rPr b="1"/>
              <a:t>red</a:t>
            </a:r>
            <a:r>
              <a:rPr/>
              <a:t> = decreasing relationship</a:t>
            </a:r>
          </a:p>
          <a:p>
            <a:pPr lvl="1"/>
            <a:r>
              <a:rPr b="1"/>
              <a:t>gray</a:t>
            </a:r>
            <a:r>
              <a:rPr/>
              <a:t> = categorical or unclear direction</a:t>
            </a:r>
          </a:p>
          <a:p>
            <a:pPr lvl="0"/>
            <a:r>
              <a:rPr b="1"/>
              <a:t>Asterisk (</a:t>
            </a:r>
            <a:r>
              <a:rPr b="1">
                <a:latin typeface="Courier"/>
              </a:rPr>
              <a:t>*</a:t>
            </a:r>
            <a:r>
              <a:rPr b="1"/>
              <a:t>)</a:t>
            </a:r>
            <a:r>
              <a:rPr/>
              <a:t> = strictly monotonic relationship across bins.</a:t>
            </a:r>
          </a:p>
          <a:p>
            <a:pPr lvl="0"/>
            <a:r>
              <a:rPr/>
              <a:t>Very high IV values for process variables can reflect genuinely strong signal, but they should always be checked for </a:t>
            </a:r>
            <a:r>
              <a:rPr b="1"/>
              <a:t>timing leakage</a:t>
            </a:r>
            <a:r>
              <a:rPr/>
              <a:t>.</a:t>
            </a:r>
          </a:p>
          <a:p>
            <a:pPr lvl="0"/>
            <a:r>
              <a:rPr/>
              <a:t>IV is derived from </a:t>
            </a:r>
            <a:r>
              <a:rPr b="1"/>
              <a:t>Weight of Evidence (WoE)</a:t>
            </a:r>
            <a:r>
              <a:rPr/>
              <a:t>: it compares how differently wins vs losses are distributed across the bins of a variable.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Annex: regression CV leaderboard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Selected model in main deck: </a:t>
            </a:r>
            <a:r>
              <a:rPr b="1"/>
              <a:t>xgboost_boxcox</a:t>
            </a:r>
            <a:r>
              <a:rPr/>
              <a:t> by CV Median APE, tie-broken by MAE.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Annex: calibration comparison for the selected classifier</a:t>
            </a:r>
          </a:p>
        </p:txBody>
      </p:sp>
      <p:pic>
        <p:nvPicPr>
          <p:cNvPr descr="assets/annex_calibration_comparis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The calibrated and non-calibrated variants have almost identical ROC / PR ranking performance, but calibration changes how raw probabilities line up with observed win rates.</a:t>
            </a:r>
          </a:p>
          <a:p>
            <a:pPr lvl="0"/>
            <a:r>
              <a:rPr/>
              <a:t>The calibrated curve tracks the 45-degree reference more closely through the middle probability range, which is the part used most often for thresholding and expected-value calculations.</a:t>
            </a:r>
          </a:p>
          <a:p>
            <a:pPr lvl="0"/>
            <a:r>
              <a:rPr/>
              <a:t>This is why the calibrated model is now the deployment candidate: the ranking stays strong, while the probabilities are more usable downstream.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Annex: hold-out classification report at the selected model’s optimal threshold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Threshold chosen on </a:t>
            </a:r>
            <a:r>
              <a:rPr b="1"/>
              <a:t>training out-of-fold predictions</a:t>
            </a:r>
            <a:r>
              <a:rPr/>
              <a:t> by maximizing </a:t>
            </a:r>
            <a:r>
              <a:rPr b="1"/>
              <a:t>F1</a:t>
            </a:r>
            <a:r>
              <a:rPr/>
              <a:t> for the selected model: </a:t>
            </a:r>
            <a:r>
              <a:rPr b="1"/>
              <a:t>31.4%</a:t>
            </a:r>
            <a:r>
              <a:rPr/>
              <a:t> predicted win probability.</a:t>
            </a:r>
          </a:p>
          <a:p>
            <a:pPr lvl="0" indent="0" marL="0">
              <a:buNone/>
            </a:pPr>
            <a:r>
              <a:rPr/>
              <a:t>Diagnostic note: the threshold is selected on train-side OOF predictions, then evaluated once on the untouched hold-out set shown here.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Annex: regression error by amount bin on the hold-out set</a:t>
            </a:r>
          </a:p>
        </p:txBody>
      </p:sp>
      <p:pic>
        <p:nvPicPr>
          <p:cNvPr descr="assets/annex_regression_error_bi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06500"/>
            <a:ext cx="4038600" cy="335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The comparison shows where model error changes most across deal-size bands, instead of averaging everything into one MAE figure.</a:t>
            </a:r>
          </a:p>
          <a:p>
            <a:pPr lvl="0"/>
            <a:r>
              <a:rPr/>
              <a:t>The transformed XGBoost variants dominate the relative-error ranking, with </a:t>
            </a:r>
            <a:r>
              <a:rPr b="1"/>
              <a:t>XGBoost Box-Cox</a:t>
            </a:r>
            <a:r>
              <a:rPr/>
              <a:t> narrowly leading overall.</a:t>
            </a:r>
          </a:p>
          <a:p>
            <a:pPr lvl="0"/>
            <a:r>
              <a:rPr/>
              <a:t>The main gain comes from reducing typical proportional error, while the largest opportunities still drive a gap between per-deal accuracy and total-portfolio forecasting.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Annex: focus-gain sensitivity across λ values</a:t>
            </a:r>
          </a:p>
        </p:txBody>
      </p:sp>
      <p:pic>
        <p:nvPicPr>
          <p:cNvPr descr="assets/sim_focus_gain_swee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14500"/>
            <a:ext cx="40386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Each curve shows the </a:t>
            </a:r>
            <a:r>
              <a:rPr b="1"/>
              <a:t>net revenue delta in USD</a:t>
            </a:r>
            <a:r>
              <a:rPr/>
              <a:t> vs. the full-pipeline baseline for a given λ_max — dropped deals are simply unworked (zero revenue from them), so the only gain is the focus uplift on worked deals.</a:t>
            </a:r>
          </a:p>
          <a:p>
            <a:pPr lvl="0"/>
            <a:r>
              <a:rPr/>
              <a:t>λ decays linearly to 1.0× at the full pipeline — so the gain is highest when the team is most concentrated.</a:t>
            </a:r>
          </a:p>
          <a:p>
            <a:pPr lvl="0"/>
            <a:r>
              <a:rPr/>
              <a:t>Break-even shifts left as λ_max increases: at λ_max = 1.5 the top ~27% of the pipeline already matches full-pipeline revenue; at λ_max = 3.0 even a very small slice generates a large surplus.</a:t>
            </a:r>
          </a:p>
          <a:p>
            <a:pPr lvl="0"/>
            <a:r>
              <a:rPr/>
              <a:t>The main deck uses </a:t>
            </a:r>
            <a:r>
              <a:rPr b="1"/>
              <a:t>λ_max = 1.50</a:t>
            </a:r>
            <a:r>
              <a:rPr/>
              <a:t> as the base scenario.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Annex: salesforce reduction — marginal revenue per rep batch</a:t>
            </a:r>
          </a:p>
        </p:txBody>
      </p:sp>
      <p:pic>
        <p:nvPicPr>
          <p:cNvPr descr="assets/sim_salesforce_reduction_margin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16100"/>
            <a:ext cx="4038600" cy="2146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Each bar shows the </a:t>
            </a:r>
            <a:r>
              <a:rPr b="1"/>
              <a:t>marginal revenue</a:t>
            </a:r>
            <a:r>
              <a:rPr/>
              <a:t> contributed by a batch of ~12 reps (one 100-opp increment), sorted from highest- to lowest-value batch.</a:t>
            </a:r>
          </a:p>
          <a:p>
            <a:pPr lvl="0"/>
            <a:r>
              <a:rPr/>
              <a:t>The dashed line marks the </a:t>
            </a:r>
            <a:r>
              <a:rPr b="1"/>
              <a:t>cost of one rep batch</a:t>
            </a:r>
            <a:r>
              <a:rPr/>
              <a:t> (~$1.44M at $120K OTE).</a:t>
            </a:r>
          </a:p>
          <a:p>
            <a:pPr lvl="0"/>
            <a:r>
              <a:rPr b="1"/>
              <a:t>Blue bars</a:t>
            </a:r>
            <a:r>
              <a:rPr/>
              <a:t> are ROI-positive: the batch earns more than it costs. </a:t>
            </a:r>
            <a:r>
              <a:rPr b="1"/>
              <a:t>Red bars</a:t>
            </a:r>
            <a:r>
              <a:rPr/>
              <a:t> are ROI-negative: cutting those reps improves net margin.</a:t>
            </a:r>
          </a:p>
          <a:p>
            <a:pPr lvl="0"/>
            <a:r>
              <a:rPr/>
              <a:t>The crossover point is around rep #216 — reps beyond that generate less revenue than their </a:t>
            </a:r>
            <a:r>
              <a:rPr b="1"/>
              <a:t>fully-loaded cost</a:t>
            </a:r>
            <a:r>
              <a:rPr/>
              <a:t> ($180K), making reduction unambiguously value-accretive.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Annex: strategic lever 1 — focus the same team on fewer, better-ranked deals</a:t>
            </a:r>
          </a:p>
        </p:txBody>
      </p:sp>
      <p:pic>
        <p:nvPicPr>
          <p:cNvPr descr="assets/sim_focus_gain_m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4038600" cy="3238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Same salesforce, fewer deals — dropped opportunities go unworked.</a:t>
            </a:r>
          </a:p>
          <a:p>
            <a:pPr lvl="0"/>
            <a:r>
              <a:rPr/>
              <a:t>Focus gain grows as the slice shrinks (λ_max = 1.5× at top slice → 1.0× at full pipeline).</a:t>
            </a:r>
          </a:p>
          <a:p>
            <a:pPr lvl="0"/>
            <a:r>
              <a:rPr/>
              <a:t>Break-even at </a:t>
            </a:r>
            <a:r>
              <a:rPr b="1"/>
              <a:t>top ~27%</a:t>
            </a:r>
            <a:r>
              <a:rPr/>
              <a:t>; optimal at </a:t>
            </a:r>
            <a:r>
              <a:rPr b="1"/>
              <a:t>top ~55%</a:t>
            </a:r>
            <a:r>
              <a:rPr/>
              <a:t> → </a:t>
            </a:r>
            <a:r>
              <a:rPr b="1"/>
              <a:t>$446M</a:t>
            </a:r>
            <a:r>
              <a:rPr/>
              <a:t> (+$61M vs. baseline).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Focus-gain λ_max is a scenario assumption, not an empirically estimated causal effect. λ decays linearly from λ_max at the smallest slice to 1.0× at the full pipeline. Simulation uses held-out test-set predictions.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Annex: Strategic lever 2: Reduce the salesforce and let the model pick the best opportunities</a:t>
            </a:r>
          </a:p>
        </p:txBody>
      </p:sp>
      <p:pic>
        <p:nvPicPr>
          <p:cNvPr descr="assets/sim_salesforce_reduction_m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Baseline: </a:t>
            </a:r>
            <a:r>
              <a:rPr b="1"/>
              <a:t>228 reps</a:t>
            </a:r>
            <a:r>
              <a:rPr/>
              <a:t> × $120K OTE = </a:t>
            </a:r>
            <a:r>
              <a:rPr b="1"/>
              <a:t>$41M</a:t>
            </a:r>
            <a:r>
              <a:rPr/>
              <a:t> fully-loaded salesforce cost, covering 22,746 opportunities.</a:t>
            </a:r>
          </a:p>
          <a:p>
            <a:pPr lvl="0"/>
            <a:r>
              <a:rPr/>
              <a:t>Model ranks all opportunities by EV; each rep cut drops the lowest-ranked batch they covered.</a:t>
            </a:r>
          </a:p>
          <a:p>
            <a:pPr lvl="0"/>
            <a:r>
              <a:rPr b="1"/>
              <a:t>Optimal headcount: 168 reps</a:t>
            </a:r>
            <a:r>
              <a:rPr/>
              <a:t> → $380M revenue retained (98.8%) at $30M cost → net margin </a:t>
            </a:r>
            <a:r>
              <a:rPr b="1"/>
              <a:t>+$6M</a:t>
            </a:r>
            <a:r>
              <a:rPr/>
              <a:t> vs. full staffing.</a:t>
            </a:r>
          </a:p>
          <a:p>
            <a:pPr lvl="0"/>
            <a:r>
              <a:rPr/>
              <a:t>Last individually break-even rep batch: </a:t>
            </a:r>
            <a:r>
              <a:rPr b="1"/>
              <a:t>rep #216</a:t>
            </a:r>
            <a:r>
              <a:rPr/>
              <a:t> — reps 217–228 generate less revenue than their fully-loaded cost.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Headcount model assumes 100 opps/rep/period. $120K OTE per rep; fully-loaded cost estimated at $180K (1.5× OTE, including benefits, payroll taxes, tech stack, and overhead). Simulation uses held-out test-set predictions.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MIB Cars Analysis</dc:title>
  <dc:creator>Strategic Analysis Group</dc:creator>
  <cp:keywords/>
  <dcterms:created xsi:type="dcterms:W3CDTF">2026-04-07T22:40:04Z</dcterms:created>
  <dcterms:modified xsi:type="dcterms:W3CDTF">2026-04-07T22:40:04Z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enter">
    <vt:lpwstr>False</vt:lpwstr>
  </property>
  <property fmtid="{D5CDD505-2E9C-101B-9397-08002B2CF9AE}" pid="6" name="header-includes">
    <vt:lpwstr/>
  </property>
  <property fmtid="{D5CDD505-2E9C-101B-9397-08002B2CF9AE}" pid="7" name="height">
    <vt:lpwstr>9in</vt:lpwstr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Commercial prioritization and forecasting from sales opportunity data</vt:lpwstr>
  </property>
  <property fmtid="{D5CDD505-2E9C-101B-9397-08002B2CF9AE}" pid="12" name="toc-title">
    <vt:lpwstr>Table of contents</vt:lpwstr>
  </property>
  <property fmtid="{D5CDD505-2E9C-101B-9397-08002B2CF9AE}" pid="13" name="width">
    <vt:lpwstr>16in</vt:lpwstr>
  </property>
</Properties>
</file>